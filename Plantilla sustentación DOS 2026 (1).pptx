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2" r:id="rId1"/>
  </p:sldMasterIdLst>
  <p:notesMasterIdLst>
    <p:notesMasterId r:id="rId20"/>
  </p:notesMasterIdLst>
  <p:sldIdLst>
    <p:sldId id="256" r:id="rId2"/>
    <p:sldId id="304" r:id="rId3"/>
    <p:sldId id="305" r:id="rId4"/>
    <p:sldId id="306" r:id="rId5"/>
    <p:sldId id="307" r:id="rId6"/>
    <p:sldId id="308" r:id="rId7"/>
    <p:sldId id="299" r:id="rId8"/>
    <p:sldId id="296" r:id="rId9"/>
    <p:sldId id="300" r:id="rId10"/>
    <p:sldId id="301" r:id="rId11"/>
    <p:sldId id="313" r:id="rId12"/>
    <p:sldId id="312" r:id="rId13"/>
    <p:sldId id="311" r:id="rId14"/>
    <p:sldId id="314" r:id="rId15"/>
    <p:sldId id="310" r:id="rId16"/>
    <p:sldId id="302" r:id="rId17"/>
    <p:sldId id="309" r:id="rId18"/>
    <p:sldId id="303" r:id="rId19"/>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4B037761-4BDA-45BB-AF1C-9712DACB08F0}">
          <p14:sldIdLst>
            <p14:sldId id="256"/>
            <p14:sldId id="304"/>
            <p14:sldId id="305"/>
            <p14:sldId id="306"/>
            <p14:sldId id="307"/>
            <p14:sldId id="308"/>
            <p14:sldId id="299"/>
            <p14:sldId id="296"/>
            <p14:sldId id="300"/>
            <p14:sldId id="301"/>
            <p14:sldId id="313"/>
            <p14:sldId id="312"/>
            <p14:sldId id="311"/>
            <p14:sldId id="314"/>
            <p14:sldId id="310"/>
            <p14:sldId id="302"/>
            <p14:sldId id="309"/>
            <p14:sldId id="30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E46B0"/>
    <a:srgbClr val="D6E8FE"/>
    <a:srgbClr val="8DBFFB"/>
    <a:srgbClr val="8E6CEE"/>
    <a:srgbClr val="C3C0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202B0CA-FC54-4496-8BCA-5EF66A818D29}" styleName="Estilo oscuro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Estilo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93D81CF-94F2-401A-BA57-92F5A7B2D0C5}" styleName="Estilo medio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FD0F851-EC5A-4D38-B0AD-8093EC10F338}" styleName="Estilo claro 1 - Acento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12C8C85-51F0-491E-9774-3900AFEF0FD7}" styleName="Estilo claro 2 - Acento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Estilo claro 2 - Acento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7292A2E-F333-43FB-9621-5CBBE7FDCDCB}" styleName="Estilo claro 2 - Acento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32" autoAdjust="0"/>
    <p:restoredTop sz="94660"/>
  </p:normalViewPr>
  <p:slideViewPr>
    <p:cSldViewPr snapToGrid="0">
      <p:cViewPr varScale="1">
        <p:scale>
          <a:sx n="82" d="100"/>
          <a:sy n="82" d="100"/>
        </p:scale>
        <p:origin x="210"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1AF14C-FE14-4557-A514-A010C272170B}" type="datetimeFigureOut">
              <a:rPr lang="es-CO" smtClean="0"/>
              <a:t>27/09/2026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4CF8ED-3AF4-4B8C-A9EA-006C395441AA}" type="slidenum">
              <a:rPr lang="es-CO" smtClean="0"/>
              <a:t>‹Nº›</a:t>
            </a:fld>
            <a:endParaRPr lang="es-CO"/>
          </a:p>
        </p:txBody>
      </p:sp>
    </p:spTree>
    <p:extLst>
      <p:ext uri="{BB962C8B-B14F-4D97-AF65-F5344CB8AC3E}">
        <p14:creationId xmlns:p14="http://schemas.microsoft.com/office/powerpoint/2010/main" val="2188930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9/27/2026</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‹Nº›</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6518166"/>
      </p:ext>
    </p:extLst>
  </p:cSld>
  <p:clrMapOvr>
    <a:masterClrMapping/>
  </p:clrMapOvr>
  <mc:AlternateContent xmlns:mc="http://schemas.openxmlformats.org/markup-compatibility/2006" xmlns:p14="http://schemas.microsoft.com/office/powerpoint/2010/main">
    <mc:Choice Requires="p14">
      <p:transition p14:dur="10">
        <p14:glitter pattern="hexagon"/>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9/27/2026</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1576906953"/>
      </p:ext>
    </p:extLst>
  </p:cSld>
  <p:clrMapOvr>
    <a:masterClrMapping/>
  </p:clrMapOvr>
  <mc:AlternateContent xmlns:mc="http://schemas.openxmlformats.org/markup-compatibility/2006" xmlns:p14="http://schemas.microsoft.com/office/powerpoint/2010/main">
    <mc:Choice Requires="p14">
      <p:transition p14:dur="10">
        <p14:glitter pattern="hexagon"/>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9/27/2026</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3480358186"/>
      </p:ext>
    </p:extLst>
  </p:cSld>
  <p:clrMapOvr>
    <a:masterClrMapping/>
  </p:clrMapOvr>
  <mc:AlternateContent xmlns:mc="http://schemas.openxmlformats.org/markup-compatibility/2006" xmlns:p14="http://schemas.microsoft.com/office/powerpoint/2010/main">
    <mc:Choice Requires="p14">
      <p:transition p14:dur="10">
        <p14:glitter pattern="hexagon"/>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9/27/2026</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3588442472"/>
      </p:ext>
    </p:extLst>
  </p:cSld>
  <p:clrMapOvr>
    <a:masterClrMapping/>
  </p:clrMapOvr>
  <mc:AlternateContent xmlns:mc="http://schemas.openxmlformats.org/markup-compatibility/2006" xmlns:p14="http://schemas.microsoft.com/office/powerpoint/2010/main">
    <mc:Choice Requires="p14">
      <p:transition p14:dur="10">
        <p14:glitter pattern="hexagon"/>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9/27/2026</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481204899"/>
      </p:ext>
    </p:extLst>
  </p:cSld>
  <p:clrMapOvr>
    <a:masterClrMapping/>
  </p:clrMapOvr>
  <mc:AlternateContent xmlns:mc="http://schemas.openxmlformats.org/markup-compatibility/2006" xmlns:p14="http://schemas.microsoft.com/office/powerpoint/2010/main">
    <mc:Choice Requires="p14">
      <p:transition p14:dur="10">
        <p14:glitter pattern="hexagon"/>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9/27/2026</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560920138"/>
      </p:ext>
    </p:extLst>
  </p:cSld>
  <p:clrMapOvr>
    <a:masterClrMapping/>
  </p:clrMapOvr>
  <mc:AlternateContent xmlns:mc="http://schemas.openxmlformats.org/markup-compatibility/2006" xmlns:p14="http://schemas.microsoft.com/office/powerpoint/2010/main">
    <mc:Choice Requires="p14">
      <p:transition p14:dur="10">
        <p14:glitter pattern="hexagon"/>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9/27/2026</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2500241459"/>
      </p:ext>
    </p:extLst>
  </p:cSld>
  <p:clrMapOvr>
    <a:masterClrMapping/>
  </p:clrMapOvr>
  <mc:AlternateContent xmlns:mc="http://schemas.openxmlformats.org/markup-compatibility/2006" xmlns:p14="http://schemas.microsoft.com/office/powerpoint/2010/main">
    <mc:Choice Requires="p14">
      <p:transition p14:dur="10">
        <p14:glitter pattern="hexagon"/>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9/27/2026</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3573657574"/>
      </p:ext>
    </p:extLst>
  </p:cSld>
  <p:clrMapOvr>
    <a:masterClrMapping/>
  </p:clrMapOvr>
  <mc:AlternateContent xmlns:mc="http://schemas.openxmlformats.org/markup-compatibility/2006" xmlns:p14="http://schemas.microsoft.com/office/powerpoint/2010/main">
    <mc:Choice Requires="p14">
      <p:transition p14:dur="10">
        <p14:glitter pattern="hexagon"/>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9/27/2026</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556352060"/>
      </p:ext>
    </p:extLst>
  </p:cSld>
  <p:clrMapOvr>
    <a:masterClrMapping/>
  </p:clrMapOvr>
  <mc:AlternateContent xmlns:mc="http://schemas.openxmlformats.org/markup-compatibility/2006" xmlns:p14="http://schemas.microsoft.com/office/powerpoint/2010/main">
    <mc:Choice Requires="p14">
      <p:transition p14:dur="10">
        <p14:glitter pattern="hexagon"/>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9/27/2026</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2968687362"/>
      </p:ext>
    </p:extLst>
  </p:cSld>
  <p:clrMapOvr>
    <a:masterClrMapping/>
  </p:clrMapOvr>
  <mc:AlternateContent xmlns:mc="http://schemas.openxmlformats.org/markup-compatibility/2006" xmlns:p14="http://schemas.microsoft.com/office/powerpoint/2010/main">
    <mc:Choice Requires="p14">
      <p:transition p14:dur="10">
        <p14:glitter pattern="hexagon"/>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9/27/2026</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1543964007"/>
      </p:ext>
    </p:extLst>
  </p:cSld>
  <p:clrMapOvr>
    <a:masterClrMapping/>
  </p:clrMapOvr>
  <mc:AlternateContent xmlns:mc="http://schemas.openxmlformats.org/markup-compatibility/2006" xmlns:p14="http://schemas.microsoft.com/office/powerpoint/2010/main">
    <mc:Choice Requires="p14">
      <p:transition p14:dur="10">
        <p14:glitter pattern="hexagon"/>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9/27/2026</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‹Nº›</a:t>
            </a:fld>
            <a:endParaRPr lang="en-US"/>
          </a:p>
        </p:txBody>
      </p:sp>
    </p:spTree>
    <p:extLst>
      <p:ext uri="{BB962C8B-B14F-4D97-AF65-F5344CB8AC3E}">
        <p14:creationId xmlns:p14="http://schemas.microsoft.com/office/powerpoint/2010/main" val="917934711"/>
      </p:ext>
    </p:extLst>
  </p:cSld>
  <p:clrMap bg1="lt1" tx1="dk1" bg2="lt2" tx2="dk2" accent1="accent1" accent2="accent2" accent3="accent3" accent4="accent4" accent5="accent5" accent6="accent6" hlink="hlink" folHlink="folHlink"/>
  <p:sldLayoutIdLst>
    <p:sldLayoutId id="2147483887" r:id="rId1"/>
    <p:sldLayoutId id="2147483888" r:id="rId2"/>
    <p:sldLayoutId id="2147483889" r:id="rId3"/>
    <p:sldLayoutId id="2147483890" r:id="rId4"/>
    <p:sldLayoutId id="2147483891" r:id="rId5"/>
    <p:sldLayoutId id="2147483881" r:id="rId6"/>
    <p:sldLayoutId id="2147483886" r:id="rId7"/>
    <p:sldLayoutId id="2147483882" r:id="rId8"/>
    <p:sldLayoutId id="2147483883" r:id="rId9"/>
    <p:sldLayoutId id="2147483884" r:id="rId10"/>
    <p:sldLayoutId id="2147483885" r:id="rId11"/>
  </p:sldLayoutIdLst>
  <mc:AlternateContent xmlns:mc="http://schemas.openxmlformats.org/markup-compatibility/2006" xmlns:p14="http://schemas.microsoft.com/office/powerpoint/2010/main">
    <mc:Choice Requires="p14">
      <p:transition p14:dur="10">
        <p14:glitter pattern="hexagon"/>
      </p:transition>
    </mc:Choice>
    <mc:Fallback xmlns="">
      <p:transition>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hyperlink" Target="http://www.paulofreire.org/noticias/180-xvii-f%C3%B3rum-de-estudos-leituras-de-paulo-freire" TargetMode="Externa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1.jpe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7000" t="2000" r="-2000"/>
          </a:stretch>
        </a:blip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155D7866-985D-4D23-BF0E-72CA30F5C7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731" y="4716089"/>
            <a:ext cx="6288261" cy="1573149"/>
          </a:xfrm>
          <a:prstGeom prst="rect">
            <a:avLst/>
          </a:prstGeom>
          <a:solidFill>
            <a:schemeClr val="bg1">
              <a:alpha val="95000"/>
            </a:schemeClr>
          </a:solidFill>
          <a:ln w="12700">
            <a:solidFill>
              <a:schemeClr val="tx2">
                <a:lumMod val="10000"/>
                <a:lumOff val="9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Rectangle 32">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87962" y="5175711"/>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Rectangle 34">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722114" y="5495733"/>
            <a:ext cx="1021458"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riángulo rectángulo 6">
            <a:extLst>
              <a:ext uri="{FF2B5EF4-FFF2-40B4-BE49-F238E27FC236}">
                <a16:creationId xmlns:a16="http://schemas.microsoft.com/office/drawing/2014/main" id="{D7CA3D4C-46B1-42B1-AE4D-0C80E83FB70B}"/>
              </a:ext>
            </a:extLst>
          </p:cNvPr>
          <p:cNvSpPr/>
          <p:nvPr/>
        </p:nvSpPr>
        <p:spPr>
          <a:xfrm>
            <a:off x="-1" y="0"/>
            <a:ext cx="2799185" cy="6858000"/>
          </a:xfrm>
          <a:prstGeom prst="rtTriangle">
            <a:avLst/>
          </a:prstGeom>
          <a:gradFill>
            <a:gsLst>
              <a:gs pos="50000">
                <a:srgbClr val="8DBFFB"/>
              </a:gs>
              <a:gs pos="74000">
                <a:srgbClr val="D6E8FE"/>
              </a:gs>
              <a:gs pos="83000">
                <a:srgbClr val="D6E8FE"/>
              </a:gs>
              <a:gs pos="100000">
                <a:srgbClr val="D6E8FE"/>
              </a:gs>
            </a:gsLst>
            <a:lin ang="5400000" scaled="1"/>
          </a:gradFill>
          <a:ln>
            <a:noFill/>
          </a:ln>
          <a:effectLst>
            <a:glow rad="152400">
              <a:srgbClr val="C3C0E6">
                <a:alpha val="40000"/>
              </a:srgbClr>
            </a:glow>
            <a:outerShdw blurRad="50800" dist="50800" dir="5400000" algn="ctr" rotWithShape="0">
              <a:srgbClr val="8DBFFB"/>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1" name="Rectángulo 20">
            <a:extLst>
              <a:ext uri="{FF2B5EF4-FFF2-40B4-BE49-F238E27FC236}">
                <a16:creationId xmlns:a16="http://schemas.microsoft.com/office/drawing/2014/main" id="{0066A124-65C2-41CA-A5C8-6C468A6877DE}"/>
              </a:ext>
            </a:extLst>
          </p:cNvPr>
          <p:cNvSpPr/>
          <p:nvPr/>
        </p:nvSpPr>
        <p:spPr>
          <a:xfrm>
            <a:off x="5441223" y="4509518"/>
            <a:ext cx="168262" cy="1843752"/>
          </a:xfrm>
          <a:prstGeom prst="rect">
            <a:avLst/>
          </a:prstGeom>
          <a:solidFill>
            <a:srgbClr val="8DBFFB"/>
          </a:solidFill>
          <a:ln>
            <a:solidFill>
              <a:srgbClr val="8DBFF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nvGrpSpPr>
          <p:cNvPr id="34" name="Grupo 33">
            <a:extLst>
              <a:ext uri="{FF2B5EF4-FFF2-40B4-BE49-F238E27FC236}">
                <a16:creationId xmlns:a16="http://schemas.microsoft.com/office/drawing/2014/main" id="{464F7D0C-3598-47D5-AB18-FB2A22918193}"/>
              </a:ext>
            </a:extLst>
          </p:cNvPr>
          <p:cNvGrpSpPr/>
          <p:nvPr/>
        </p:nvGrpSpPr>
        <p:grpSpPr>
          <a:xfrm>
            <a:off x="0" y="1487"/>
            <a:ext cx="12276762" cy="6942569"/>
            <a:chOff x="0" y="-84569"/>
            <a:chExt cx="12276762" cy="6942569"/>
          </a:xfrm>
        </p:grpSpPr>
        <p:sp>
          <p:nvSpPr>
            <p:cNvPr id="16" name="Triángulo rectángulo 15">
              <a:extLst>
                <a:ext uri="{FF2B5EF4-FFF2-40B4-BE49-F238E27FC236}">
                  <a16:creationId xmlns:a16="http://schemas.microsoft.com/office/drawing/2014/main" id="{E58F0708-8122-44D9-A567-CE797C88E11A}"/>
                </a:ext>
              </a:extLst>
            </p:cNvPr>
            <p:cNvSpPr/>
            <p:nvPr/>
          </p:nvSpPr>
          <p:spPr>
            <a:xfrm rot="16200000" flipH="1">
              <a:off x="5746490" y="-4094582"/>
              <a:ext cx="2350927" cy="10540092"/>
            </a:xfrm>
            <a:prstGeom prst="rtTriangle">
              <a:avLst/>
            </a:prstGeom>
            <a:gradFill>
              <a:gsLst>
                <a:gs pos="50000">
                  <a:srgbClr val="8DBFFB"/>
                </a:gs>
                <a:gs pos="74000">
                  <a:srgbClr val="D6E8FE"/>
                </a:gs>
                <a:gs pos="83000">
                  <a:srgbClr val="D6E8FE"/>
                </a:gs>
                <a:gs pos="100000">
                  <a:srgbClr val="D6E8FE"/>
                </a:gs>
              </a:gsLst>
              <a:lin ang="5400000" scaled="1"/>
            </a:gradFill>
            <a:ln>
              <a:noFill/>
            </a:ln>
            <a:effectLst>
              <a:glow rad="152400">
                <a:srgbClr val="C3C0E6">
                  <a:alpha val="40000"/>
                </a:srgbClr>
              </a:glow>
              <a:outerShdw blurRad="50800" dist="50800" dir="5400000" algn="ctr" rotWithShape="0">
                <a:srgbClr val="8DBFFB"/>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 name="Triángulo rectángulo 7">
              <a:extLst>
                <a:ext uri="{FF2B5EF4-FFF2-40B4-BE49-F238E27FC236}">
                  <a16:creationId xmlns:a16="http://schemas.microsoft.com/office/drawing/2014/main" id="{EB741AC7-7811-4AE3-ACAE-D3E6BADAB1AC}"/>
                </a:ext>
              </a:extLst>
            </p:cNvPr>
            <p:cNvSpPr/>
            <p:nvPr/>
          </p:nvSpPr>
          <p:spPr>
            <a:xfrm rot="10800000" flipH="1">
              <a:off x="0" y="0"/>
              <a:ext cx="2350927" cy="6858000"/>
            </a:xfrm>
            <a:prstGeom prst="rtTriangle">
              <a:avLst/>
            </a:prstGeom>
            <a:gradFill>
              <a:gsLst>
                <a:gs pos="50000">
                  <a:srgbClr val="8DBFFB"/>
                </a:gs>
                <a:gs pos="74000">
                  <a:srgbClr val="D6E8FE"/>
                </a:gs>
                <a:gs pos="83000">
                  <a:srgbClr val="D6E8FE"/>
                </a:gs>
                <a:gs pos="100000">
                  <a:srgbClr val="D6E8FE"/>
                </a:gs>
              </a:gsLst>
              <a:lin ang="5400000" scaled="1"/>
            </a:gradFill>
            <a:ln>
              <a:noFill/>
            </a:ln>
            <a:effectLst>
              <a:glow rad="152400">
                <a:srgbClr val="C3C0E6">
                  <a:alpha val="40000"/>
                </a:srgbClr>
              </a:glow>
              <a:outerShdw blurRad="50800" dist="50800" dir="5400000" algn="ctr" rotWithShape="0">
                <a:srgbClr val="8DBFFB"/>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19" name="Imagen 18" descr="Logotipo&#10;&#10;Descripción generada automáticamente">
              <a:extLst>
                <a:ext uri="{FF2B5EF4-FFF2-40B4-BE49-F238E27FC236}">
                  <a16:creationId xmlns:a16="http://schemas.microsoft.com/office/drawing/2014/main" id="{D5A2FC2C-47CC-4953-AC35-F326971D9F78}"/>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10624855" y="-84569"/>
              <a:ext cx="1651907" cy="1520890"/>
            </a:xfrm>
            <a:prstGeom prst="rect">
              <a:avLst/>
            </a:prstGeom>
          </p:spPr>
        </p:pic>
        <p:sp>
          <p:nvSpPr>
            <p:cNvPr id="23" name="CuadroTexto 22">
              <a:extLst>
                <a:ext uri="{FF2B5EF4-FFF2-40B4-BE49-F238E27FC236}">
                  <a16:creationId xmlns:a16="http://schemas.microsoft.com/office/drawing/2014/main" id="{E837C40B-719C-4E31-B10A-FB2BBC834AB0}"/>
                </a:ext>
              </a:extLst>
            </p:cNvPr>
            <p:cNvSpPr txBox="1"/>
            <p:nvPr/>
          </p:nvSpPr>
          <p:spPr>
            <a:xfrm>
              <a:off x="5813101" y="383488"/>
              <a:ext cx="5186293" cy="584775"/>
            </a:xfrm>
            <a:prstGeom prst="rect">
              <a:avLst/>
            </a:prstGeom>
            <a:noFill/>
            <a:effectLst>
              <a:glow rad="127000">
                <a:srgbClr val="C3C0E6"/>
              </a:glow>
              <a:outerShdw blurRad="50800" dist="50800" dir="5400000" algn="ctr" rotWithShape="0">
                <a:srgbClr val="C3C0E6"/>
              </a:outerShdw>
            </a:effectLst>
          </p:spPr>
          <p:txBody>
            <a:bodyPr wrap="none" rtlCol="0">
              <a:spAutoFit/>
            </a:bodyPr>
            <a:lstStyle/>
            <a:p>
              <a:pPr algn="r"/>
              <a:r>
                <a:rPr lang="es-CO" sz="1600" dirty="0">
                  <a:effectLst>
                    <a:outerShdw blurRad="50800" dist="50800" dir="5400000" algn="ctr" rotWithShape="0">
                      <a:schemeClr val="bg1">
                        <a:lumMod val="75000"/>
                      </a:schemeClr>
                    </a:outerShdw>
                  </a:effectLst>
                </a:rPr>
                <a:t>COLEGIO TÉCNICO DISTRITAL PAULO FREIRE IED</a:t>
              </a:r>
            </a:p>
            <a:p>
              <a:pPr algn="r"/>
              <a:r>
                <a:rPr lang="es-CO" sz="1600" dirty="0">
                  <a:effectLst>
                    <a:outerShdw blurRad="50800" dist="50800" dir="5400000" algn="ctr" rotWithShape="0">
                      <a:schemeClr val="bg1">
                        <a:lumMod val="75000"/>
                      </a:schemeClr>
                    </a:outerShdw>
                  </a:effectLst>
                </a:rPr>
                <a:t>SUSTENTACIÓN PROYECTO DE GRADO 2026 </a:t>
              </a:r>
            </a:p>
          </p:txBody>
        </p:sp>
      </p:grpSp>
      <p:pic>
        <p:nvPicPr>
          <p:cNvPr id="37" name="Imagen 36">
            <a:extLst>
              <a:ext uri="{FF2B5EF4-FFF2-40B4-BE49-F238E27FC236}">
                <a16:creationId xmlns:a16="http://schemas.microsoft.com/office/drawing/2014/main" id="{78E11C43-48AC-4FCE-A947-B4F912CE4923}"/>
              </a:ext>
            </a:extLst>
          </p:cNvPr>
          <p:cNvPicPr>
            <a:picLocks noChangeAspect="1"/>
          </p:cNvPicPr>
          <p:nvPr/>
        </p:nvPicPr>
        <p:blipFill>
          <a:blip r:embed="rId4">
            <a:alphaModFix amt="70000"/>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684597" y="5129807"/>
            <a:ext cx="1186554" cy="1261756"/>
          </a:xfrm>
          <a:prstGeom prst="rect">
            <a:avLst/>
          </a:prstGeom>
        </p:spPr>
      </p:pic>
      <p:sp>
        <p:nvSpPr>
          <p:cNvPr id="17" name="Título 1">
            <a:extLst>
              <a:ext uri="{FF2B5EF4-FFF2-40B4-BE49-F238E27FC236}">
                <a16:creationId xmlns:a16="http://schemas.microsoft.com/office/drawing/2014/main" id="{4A7E5FFD-866B-4387-ABA5-4E8E53D68505}"/>
              </a:ext>
            </a:extLst>
          </p:cNvPr>
          <p:cNvSpPr txBox="1">
            <a:spLocks/>
          </p:cNvSpPr>
          <p:nvPr/>
        </p:nvSpPr>
        <p:spPr>
          <a:xfrm>
            <a:off x="5634317" y="4682337"/>
            <a:ext cx="4131006" cy="1843752"/>
          </a:xfrm>
          <a:prstGeom prst="rect">
            <a:avLst/>
          </a:prstGeom>
        </p:spPr>
        <p:txBody>
          <a:bodyPr vert="horz" lIns="91440" tIns="45720" rIns="91440" bIns="45720" rtlCol="0" anchor="ctr">
            <a:normAutofit fontScale="45000" lnSpcReduction="20000"/>
          </a:bodyPr>
          <a:lstStyle>
            <a:lvl1pPr algn="l" defTabSz="914400" rtl="0" eaLnBrk="1" latinLnBrk="0" hangingPunct="1">
              <a:lnSpc>
                <a:spcPct val="90000"/>
              </a:lnSpc>
              <a:spcBef>
                <a:spcPct val="0"/>
              </a:spcBef>
              <a:buNone/>
              <a:defRPr sz="8000" kern="1200">
                <a:solidFill>
                  <a:schemeClr val="tx1"/>
                </a:solidFill>
                <a:latin typeface="+mj-lt"/>
                <a:ea typeface="+mj-ea"/>
                <a:cs typeface="+mj-cs"/>
              </a:defRPr>
            </a:lvl1pPr>
          </a:lstStyle>
          <a:p>
            <a:br>
              <a:rPr lang="es-CO" sz="2800" dirty="0">
                <a:solidFill>
                  <a:srgbClr val="7030A0"/>
                </a:solidFill>
                <a:latin typeface="Times New Roman" panose="02020603050405020304" pitchFamily="18" charset="0"/>
                <a:ea typeface="Calibri" panose="020F0502020204030204" pitchFamily="34" charset="0"/>
              </a:rPr>
            </a:br>
            <a:r>
              <a:rPr lang="es-CO" sz="4000" dirty="0">
                <a:solidFill>
                  <a:srgbClr val="7030A0"/>
                </a:solidFill>
                <a:latin typeface="Times New Roman" panose="02020603050405020304" pitchFamily="18" charset="0"/>
                <a:ea typeface="Calibri" panose="020F0502020204030204" pitchFamily="34" charset="0"/>
              </a:rPr>
              <a:t>INTEGRANTES:</a:t>
            </a:r>
          </a:p>
          <a:p>
            <a:r>
              <a:rPr lang="es-CO" sz="4000" dirty="0">
                <a:solidFill>
                  <a:srgbClr val="7030A0"/>
                </a:solidFill>
                <a:latin typeface="Times New Roman" panose="02020603050405020304" pitchFamily="18" charset="0"/>
                <a:cs typeface="Arial" panose="020B0604020202020204" pitchFamily="34" charset="0"/>
              </a:rPr>
              <a:t>-Deisy Tatiana Polo Moreno - 1103</a:t>
            </a:r>
          </a:p>
          <a:p>
            <a:r>
              <a:rPr lang="es-CO" sz="4000" dirty="0">
                <a:solidFill>
                  <a:srgbClr val="7030A0"/>
                </a:solidFill>
                <a:latin typeface="Times New Roman" panose="02020603050405020304" pitchFamily="18" charset="0"/>
                <a:cs typeface="Arial" panose="020B0604020202020204" pitchFamily="34" charset="0"/>
              </a:rPr>
              <a:t>-Diyer Santiago Ramírez Sanabria - 1101</a:t>
            </a:r>
          </a:p>
          <a:p>
            <a:r>
              <a:rPr lang="es-CO" sz="4000" dirty="0">
                <a:solidFill>
                  <a:srgbClr val="7030A0"/>
                </a:solidFill>
                <a:latin typeface="Times New Roman" panose="02020603050405020304" pitchFamily="18" charset="0"/>
                <a:cs typeface="Arial" panose="020B0604020202020204" pitchFamily="34" charset="0"/>
              </a:rPr>
              <a:t>-Heilyn Mariana Sanchez Murcia - 1101</a:t>
            </a:r>
          </a:p>
          <a:p>
            <a:r>
              <a:rPr lang="es-CO" sz="4000" dirty="0">
                <a:solidFill>
                  <a:srgbClr val="7030A0"/>
                </a:solidFill>
                <a:latin typeface="Times New Roman" panose="02020603050405020304" pitchFamily="18" charset="0"/>
                <a:cs typeface="Arial" panose="020B0604020202020204" pitchFamily="34" charset="0"/>
              </a:rPr>
              <a:t>-Pedro Jose Mateus Morales  - 1101</a:t>
            </a:r>
          </a:p>
          <a:p>
            <a:r>
              <a:rPr lang="es-CO" sz="4000" dirty="0">
                <a:solidFill>
                  <a:srgbClr val="7030A0"/>
                </a:solidFill>
                <a:latin typeface="Times New Roman" panose="02020603050405020304" pitchFamily="18" charset="0"/>
                <a:cs typeface="Arial" panose="020B0604020202020204" pitchFamily="34" charset="0"/>
              </a:rPr>
              <a:t>-Andres Camilo Cardenas Borrero - 1101</a:t>
            </a:r>
          </a:p>
          <a:p>
            <a:r>
              <a:rPr lang="es-CO" sz="4000" dirty="0">
                <a:solidFill>
                  <a:srgbClr val="7030A0"/>
                </a:solidFill>
                <a:latin typeface="Times New Roman" panose="02020603050405020304" pitchFamily="18" charset="0"/>
                <a:cs typeface="Arial" panose="020B0604020202020204" pitchFamily="34" charset="0"/>
              </a:rPr>
              <a:t>-Joseph Torres Buitrago - 1103</a:t>
            </a:r>
          </a:p>
          <a:p>
            <a:endParaRPr lang="es-CO" sz="7200" dirty="0">
              <a:solidFill>
                <a:schemeClr val="accent6">
                  <a:lumMod val="7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33434586"/>
      </p:ext>
    </p:extLst>
  </p:cSld>
  <p:clrMapOvr>
    <a:masterClrMapping/>
  </p:clrMapOvr>
  <mc:AlternateContent xmlns:mc="http://schemas.openxmlformats.org/markup-compatibility/2006" xmlns:p14="http://schemas.microsoft.com/office/powerpoint/2010/main">
    <mc:Choice Requires="p14">
      <p:transition p14:dur="10">
        <p14:glitter pattern="hexagon"/>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riángulo rectángulo 4">
            <a:extLst>
              <a:ext uri="{FF2B5EF4-FFF2-40B4-BE49-F238E27FC236}">
                <a16:creationId xmlns:a16="http://schemas.microsoft.com/office/drawing/2014/main" id="{AB14C2AB-5230-6532-874B-A1FD8B5CB85D}"/>
              </a:ext>
            </a:extLst>
          </p:cNvPr>
          <p:cNvSpPr/>
          <p:nvPr/>
        </p:nvSpPr>
        <p:spPr>
          <a:xfrm rot="16200000" flipH="1">
            <a:off x="5694170" y="-4060847"/>
            <a:ext cx="2350927" cy="10644736"/>
          </a:xfrm>
          <a:prstGeom prst="rtTriangle">
            <a:avLst/>
          </a:prstGeom>
          <a:gradFill>
            <a:gsLst>
              <a:gs pos="50000">
                <a:srgbClr val="8DBFFB"/>
              </a:gs>
              <a:gs pos="74000">
                <a:srgbClr val="D6E8FE"/>
              </a:gs>
              <a:gs pos="83000">
                <a:srgbClr val="D6E8FE"/>
              </a:gs>
              <a:gs pos="100000">
                <a:srgbClr val="D6E8FE"/>
              </a:gs>
            </a:gsLst>
            <a:lin ang="5400000" scaled="1"/>
          </a:gradFill>
          <a:ln>
            <a:noFill/>
          </a:ln>
          <a:effectLst>
            <a:glow rad="152400">
              <a:srgbClr val="C3C0E6">
                <a:alpha val="40000"/>
              </a:srgbClr>
            </a:glow>
            <a:outerShdw blurRad="50800" dist="50800" dir="5400000" algn="ctr" rotWithShape="0">
              <a:srgbClr val="8DBFFB"/>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Triángulo rectángulo 3">
            <a:extLst>
              <a:ext uri="{FF2B5EF4-FFF2-40B4-BE49-F238E27FC236}">
                <a16:creationId xmlns:a16="http://schemas.microsoft.com/office/drawing/2014/main" id="{3C597F25-92E5-1E6F-E68B-912BBCF50C04}"/>
              </a:ext>
            </a:extLst>
          </p:cNvPr>
          <p:cNvSpPr/>
          <p:nvPr/>
        </p:nvSpPr>
        <p:spPr>
          <a:xfrm rot="10800000" flipH="1">
            <a:off x="0" y="86384"/>
            <a:ext cx="2350927" cy="6742712"/>
          </a:xfrm>
          <a:prstGeom prst="rtTriangle">
            <a:avLst/>
          </a:prstGeom>
          <a:gradFill>
            <a:gsLst>
              <a:gs pos="50000">
                <a:srgbClr val="8DBFFB"/>
              </a:gs>
              <a:gs pos="74000">
                <a:srgbClr val="D6E8FE"/>
              </a:gs>
              <a:gs pos="83000">
                <a:srgbClr val="D6E8FE"/>
              </a:gs>
              <a:gs pos="100000">
                <a:srgbClr val="D6E8FE"/>
              </a:gs>
            </a:gsLst>
            <a:lin ang="5400000" scaled="1"/>
          </a:gradFill>
          <a:ln>
            <a:noFill/>
          </a:ln>
          <a:effectLst>
            <a:glow rad="152400">
              <a:srgbClr val="C3C0E6">
                <a:alpha val="40000"/>
              </a:srgbClr>
            </a:glow>
            <a:outerShdw blurRad="50800" dist="50800" dir="5400000" algn="ctr" rotWithShape="0">
              <a:srgbClr val="8DBFFB"/>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2" name="Título 1">
            <a:extLst>
              <a:ext uri="{FF2B5EF4-FFF2-40B4-BE49-F238E27FC236}">
                <a16:creationId xmlns:a16="http://schemas.microsoft.com/office/drawing/2014/main" id="{D123B062-AF11-5051-1EF9-329A757214F1}"/>
              </a:ext>
            </a:extLst>
          </p:cNvPr>
          <p:cNvSpPr>
            <a:spLocks noGrp="1"/>
          </p:cNvSpPr>
          <p:nvPr>
            <p:ph type="title"/>
          </p:nvPr>
        </p:nvSpPr>
        <p:spPr>
          <a:xfrm>
            <a:off x="1011936" y="1017159"/>
            <a:ext cx="10168128" cy="1179576"/>
          </a:xfrm>
        </p:spPr>
        <p:txBody>
          <a:bodyPr>
            <a:normAutofit/>
          </a:bodyPr>
          <a:lstStyle/>
          <a:p>
            <a:pPr algn="ctr"/>
            <a:r>
              <a:rPr lang="es-CO" sz="5400" b="1" dirty="0">
                <a:latin typeface="Times New Roman" panose="02020603050405020304" pitchFamily="18" charset="0"/>
                <a:cs typeface="Times New Roman" panose="02020603050405020304" pitchFamily="18" charset="0"/>
              </a:rPr>
              <a:t>Planteamiento del problema</a:t>
            </a:r>
          </a:p>
        </p:txBody>
      </p:sp>
      <p:sp>
        <p:nvSpPr>
          <p:cNvPr id="3" name="Marcador de contenido 2">
            <a:extLst>
              <a:ext uri="{FF2B5EF4-FFF2-40B4-BE49-F238E27FC236}">
                <a16:creationId xmlns:a16="http://schemas.microsoft.com/office/drawing/2014/main" id="{393AC555-D0D6-BF25-66AD-C3C08307C35D}"/>
              </a:ext>
            </a:extLst>
          </p:cNvPr>
          <p:cNvSpPr>
            <a:spLocks noGrp="1"/>
          </p:cNvSpPr>
          <p:nvPr>
            <p:ph idx="1"/>
          </p:nvPr>
        </p:nvSpPr>
        <p:spPr>
          <a:xfrm>
            <a:off x="495300" y="2436985"/>
            <a:ext cx="11201400" cy="4153212"/>
          </a:xfrm>
        </p:spPr>
        <p:txBody>
          <a:bodyPr>
            <a:normAutofit lnSpcReduction="10000"/>
          </a:bodyPr>
          <a:lstStyle/>
          <a:p>
            <a:pPr marL="0" indent="0">
              <a:buNone/>
            </a:pPr>
            <a:r>
              <a:rPr lang="es-CO" dirty="0"/>
              <a:t>En la localidad de Usme existe una oferta limitada de postres, predominando productos tradicionales como tortas, galletas y cupcakes. Además, precios elevados en los postres de mejor nivel, lo que reduce las opciones para los consumidores. Asimismo, no se encuentran postres japoneses como los mochis, lo que representa una oportunidad de negocio para la empresa Mochilandia. Por ello, se busca definir estrategias para posicionar la marca en Usme durante el año 2026, teniendo como público objetivo a jóvenes y familias.</a:t>
            </a:r>
          </a:p>
        </p:txBody>
      </p:sp>
      <p:pic>
        <p:nvPicPr>
          <p:cNvPr id="7" name="Imagen 6" descr="Logotipo&#10;&#10;Descripción generada automáticamente">
            <a:extLst>
              <a:ext uri="{FF2B5EF4-FFF2-40B4-BE49-F238E27FC236}">
                <a16:creationId xmlns:a16="http://schemas.microsoft.com/office/drawing/2014/main" id="{F7A14A4C-580A-28CA-6225-CA09B9E82BD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45" y="47134"/>
            <a:ext cx="1651907" cy="1520890"/>
          </a:xfrm>
          <a:prstGeom prst="rect">
            <a:avLst/>
          </a:prstGeom>
        </p:spPr>
      </p:pic>
      <p:pic>
        <p:nvPicPr>
          <p:cNvPr id="10" name="Imagen 9"/>
          <p:cNvPicPr>
            <a:picLocks noChangeAspect="1"/>
          </p:cNvPicPr>
          <p:nvPr/>
        </p:nvPicPr>
        <p:blipFill>
          <a:blip r:embed="rId3"/>
          <a:stretch>
            <a:fillRect/>
          </a:stretch>
        </p:blipFill>
        <p:spPr>
          <a:xfrm flipV="1">
            <a:off x="5348372" y="0"/>
            <a:ext cx="1495255" cy="1495255"/>
          </a:xfrm>
          <a:prstGeom prst="rect">
            <a:avLst/>
          </a:prstGeom>
        </p:spPr>
      </p:pic>
      <p:pic>
        <p:nvPicPr>
          <p:cNvPr id="11" name="Imagen 10"/>
          <p:cNvPicPr>
            <a:picLocks noChangeAspect="1"/>
          </p:cNvPicPr>
          <p:nvPr/>
        </p:nvPicPr>
        <p:blipFill>
          <a:blip r:embed="rId3"/>
          <a:stretch>
            <a:fillRect/>
          </a:stretch>
        </p:blipFill>
        <p:spPr>
          <a:xfrm>
            <a:off x="4565492" y="119179"/>
            <a:ext cx="919247" cy="919247"/>
          </a:xfrm>
          <a:prstGeom prst="rect">
            <a:avLst/>
          </a:prstGeom>
        </p:spPr>
      </p:pic>
      <p:pic>
        <p:nvPicPr>
          <p:cNvPr id="12" name="Imagen 11"/>
          <p:cNvPicPr>
            <a:picLocks noChangeAspect="1"/>
          </p:cNvPicPr>
          <p:nvPr/>
        </p:nvPicPr>
        <p:blipFill>
          <a:blip r:embed="rId3"/>
          <a:stretch>
            <a:fillRect/>
          </a:stretch>
        </p:blipFill>
        <p:spPr>
          <a:xfrm>
            <a:off x="9983893" y="723451"/>
            <a:ext cx="1196171" cy="1196171"/>
          </a:xfrm>
          <a:prstGeom prst="rect">
            <a:avLst/>
          </a:prstGeom>
        </p:spPr>
      </p:pic>
      <p:pic>
        <p:nvPicPr>
          <p:cNvPr id="14" name="Imagen 13"/>
          <p:cNvPicPr>
            <a:picLocks noChangeAspect="1"/>
          </p:cNvPicPr>
          <p:nvPr/>
        </p:nvPicPr>
        <p:blipFill>
          <a:blip r:embed="rId4"/>
          <a:stretch>
            <a:fillRect/>
          </a:stretch>
        </p:blipFill>
        <p:spPr>
          <a:xfrm>
            <a:off x="11016761" y="1820332"/>
            <a:ext cx="445617" cy="445617"/>
          </a:xfrm>
          <a:prstGeom prst="rect">
            <a:avLst/>
          </a:prstGeom>
        </p:spPr>
      </p:pic>
      <p:pic>
        <p:nvPicPr>
          <p:cNvPr id="15" name="Imagen 14"/>
          <p:cNvPicPr>
            <a:picLocks noChangeAspect="1"/>
          </p:cNvPicPr>
          <p:nvPr/>
        </p:nvPicPr>
        <p:blipFill>
          <a:blip r:embed="rId4"/>
          <a:stretch>
            <a:fillRect/>
          </a:stretch>
        </p:blipFill>
        <p:spPr>
          <a:xfrm>
            <a:off x="10546944" y="2188045"/>
            <a:ext cx="710034" cy="710034"/>
          </a:xfrm>
          <a:prstGeom prst="rect">
            <a:avLst/>
          </a:prstGeom>
        </p:spPr>
      </p:pic>
      <p:pic>
        <p:nvPicPr>
          <p:cNvPr id="16" name="Imagen 15"/>
          <p:cNvPicPr>
            <a:picLocks noChangeAspect="1"/>
          </p:cNvPicPr>
          <p:nvPr/>
        </p:nvPicPr>
        <p:blipFill>
          <a:blip r:embed="rId4"/>
          <a:stretch>
            <a:fillRect/>
          </a:stretch>
        </p:blipFill>
        <p:spPr>
          <a:xfrm>
            <a:off x="11239569" y="2377412"/>
            <a:ext cx="520667" cy="520667"/>
          </a:xfrm>
          <a:prstGeom prst="rect">
            <a:avLst/>
          </a:prstGeom>
        </p:spPr>
      </p:pic>
      <p:pic>
        <p:nvPicPr>
          <p:cNvPr id="17" name="Imagen 16"/>
          <p:cNvPicPr>
            <a:picLocks noChangeAspect="1"/>
          </p:cNvPicPr>
          <p:nvPr/>
        </p:nvPicPr>
        <p:blipFill>
          <a:blip r:embed="rId4"/>
          <a:stretch>
            <a:fillRect/>
          </a:stretch>
        </p:blipFill>
        <p:spPr>
          <a:xfrm>
            <a:off x="1501221" y="1350885"/>
            <a:ext cx="448889" cy="448889"/>
          </a:xfrm>
          <a:prstGeom prst="rect">
            <a:avLst/>
          </a:prstGeom>
        </p:spPr>
      </p:pic>
      <p:pic>
        <p:nvPicPr>
          <p:cNvPr id="18" name="Imagen 17"/>
          <p:cNvPicPr>
            <a:picLocks noChangeAspect="1"/>
          </p:cNvPicPr>
          <p:nvPr/>
        </p:nvPicPr>
        <p:blipFill>
          <a:blip r:embed="rId4"/>
          <a:stretch>
            <a:fillRect/>
          </a:stretch>
        </p:blipFill>
        <p:spPr>
          <a:xfrm flipH="1">
            <a:off x="1797556" y="1086026"/>
            <a:ext cx="293711" cy="293711"/>
          </a:xfrm>
          <a:prstGeom prst="rect">
            <a:avLst/>
          </a:prstGeom>
        </p:spPr>
      </p:pic>
      <p:pic>
        <p:nvPicPr>
          <p:cNvPr id="19" name="Imagen 18"/>
          <p:cNvPicPr>
            <a:picLocks noChangeAspect="1"/>
          </p:cNvPicPr>
          <p:nvPr/>
        </p:nvPicPr>
        <p:blipFill>
          <a:blip r:embed="rId4"/>
          <a:stretch>
            <a:fillRect/>
          </a:stretch>
        </p:blipFill>
        <p:spPr>
          <a:xfrm>
            <a:off x="1756990" y="1762030"/>
            <a:ext cx="258622" cy="258622"/>
          </a:xfrm>
          <a:prstGeom prst="rect">
            <a:avLst/>
          </a:prstGeom>
        </p:spPr>
      </p:pic>
      <p:pic>
        <p:nvPicPr>
          <p:cNvPr id="20" name="Imagen 19"/>
          <p:cNvPicPr>
            <a:picLocks noChangeAspect="1"/>
          </p:cNvPicPr>
          <p:nvPr/>
        </p:nvPicPr>
        <p:blipFill>
          <a:blip r:embed="rId4"/>
          <a:stretch>
            <a:fillRect/>
          </a:stretch>
        </p:blipFill>
        <p:spPr>
          <a:xfrm>
            <a:off x="10714205" y="5917898"/>
            <a:ext cx="549410" cy="549410"/>
          </a:xfrm>
          <a:prstGeom prst="rect">
            <a:avLst/>
          </a:prstGeom>
        </p:spPr>
      </p:pic>
      <p:pic>
        <p:nvPicPr>
          <p:cNvPr id="21" name="Imagen 20"/>
          <p:cNvPicPr>
            <a:picLocks noChangeAspect="1"/>
          </p:cNvPicPr>
          <p:nvPr/>
        </p:nvPicPr>
        <p:blipFill>
          <a:blip r:embed="rId4"/>
          <a:stretch>
            <a:fillRect/>
          </a:stretch>
        </p:blipFill>
        <p:spPr>
          <a:xfrm>
            <a:off x="10395921" y="6328994"/>
            <a:ext cx="434610" cy="434610"/>
          </a:xfrm>
          <a:prstGeom prst="rect">
            <a:avLst/>
          </a:prstGeom>
        </p:spPr>
      </p:pic>
      <p:pic>
        <p:nvPicPr>
          <p:cNvPr id="22" name="Imagen 21"/>
          <p:cNvPicPr>
            <a:picLocks noChangeAspect="1"/>
          </p:cNvPicPr>
          <p:nvPr/>
        </p:nvPicPr>
        <p:blipFill>
          <a:blip r:embed="rId3"/>
          <a:stretch>
            <a:fillRect/>
          </a:stretch>
        </p:blipFill>
        <p:spPr>
          <a:xfrm flipV="1">
            <a:off x="2686734" y="5747536"/>
            <a:ext cx="1162916" cy="1162916"/>
          </a:xfrm>
          <a:prstGeom prst="rect">
            <a:avLst/>
          </a:prstGeom>
        </p:spPr>
      </p:pic>
      <p:pic>
        <p:nvPicPr>
          <p:cNvPr id="23" name="Imagen 22"/>
          <p:cNvPicPr>
            <a:picLocks noChangeAspect="1"/>
          </p:cNvPicPr>
          <p:nvPr/>
        </p:nvPicPr>
        <p:blipFill>
          <a:blip r:embed="rId5"/>
          <a:stretch>
            <a:fillRect/>
          </a:stretch>
        </p:blipFill>
        <p:spPr>
          <a:xfrm>
            <a:off x="5348372" y="5746015"/>
            <a:ext cx="1164437" cy="1164437"/>
          </a:xfrm>
          <a:prstGeom prst="rect">
            <a:avLst/>
          </a:prstGeom>
        </p:spPr>
      </p:pic>
      <p:pic>
        <p:nvPicPr>
          <p:cNvPr id="24" name="Imagen 23"/>
          <p:cNvPicPr>
            <a:picLocks noChangeAspect="1"/>
          </p:cNvPicPr>
          <p:nvPr/>
        </p:nvPicPr>
        <p:blipFill>
          <a:blip r:embed="rId6"/>
          <a:stretch>
            <a:fillRect/>
          </a:stretch>
        </p:blipFill>
        <p:spPr>
          <a:xfrm>
            <a:off x="305098" y="1321536"/>
            <a:ext cx="1164437" cy="1164437"/>
          </a:xfrm>
          <a:prstGeom prst="rect">
            <a:avLst/>
          </a:prstGeom>
        </p:spPr>
      </p:pic>
      <p:sp>
        <p:nvSpPr>
          <p:cNvPr id="9" name="CuadroTexto 8">
            <a:extLst>
              <a:ext uri="{FF2B5EF4-FFF2-40B4-BE49-F238E27FC236}">
                <a16:creationId xmlns:a16="http://schemas.microsoft.com/office/drawing/2014/main" id="{FA219147-6468-1895-2C48-7F73682B11C9}"/>
              </a:ext>
            </a:extLst>
          </p:cNvPr>
          <p:cNvSpPr txBox="1"/>
          <p:nvPr/>
        </p:nvSpPr>
        <p:spPr>
          <a:xfrm>
            <a:off x="7022059" y="84265"/>
            <a:ext cx="5121723" cy="584775"/>
          </a:xfrm>
          <a:prstGeom prst="rect">
            <a:avLst/>
          </a:prstGeom>
          <a:noFill/>
          <a:effectLst>
            <a:glow rad="127000">
              <a:srgbClr val="C3C0E6"/>
            </a:glow>
            <a:outerShdw blurRad="50800" dist="50800" dir="5400000" algn="ctr" rotWithShape="0">
              <a:srgbClr val="C3C0E6"/>
            </a:outerShdw>
          </a:effectLst>
        </p:spPr>
        <p:txBody>
          <a:bodyPr wrap="none" rtlCol="0">
            <a:spAutoFit/>
          </a:bodyPr>
          <a:lstStyle/>
          <a:p>
            <a:pPr algn="r"/>
            <a:r>
              <a:rPr lang="es-CO" sz="1600" dirty="0">
                <a:effectLst>
                  <a:outerShdw blurRad="50800" dist="50800" dir="5400000" algn="ctr" rotWithShape="0">
                    <a:schemeClr val="bg1">
                      <a:lumMod val="75000"/>
                    </a:schemeClr>
                  </a:outerShdw>
                </a:effectLst>
              </a:rPr>
              <a:t>COLEGIO TÉCNICO DISTRITAL PAULO FREIRE IED</a:t>
            </a:r>
          </a:p>
          <a:p>
            <a:pPr algn="r"/>
            <a:r>
              <a:rPr lang="es-CO" sz="1600" dirty="0">
                <a:effectLst>
                  <a:outerShdw blurRad="50800" dist="50800" dir="5400000" algn="ctr" rotWithShape="0">
                    <a:schemeClr val="bg1">
                      <a:lumMod val="75000"/>
                    </a:schemeClr>
                  </a:outerShdw>
                </a:effectLst>
              </a:rPr>
              <a:t>SUSTENTACIÓN PROYECTO DE GRADO 2026</a:t>
            </a:r>
          </a:p>
        </p:txBody>
      </p:sp>
    </p:spTree>
    <p:extLst>
      <p:ext uri="{BB962C8B-B14F-4D97-AF65-F5344CB8AC3E}">
        <p14:creationId xmlns:p14="http://schemas.microsoft.com/office/powerpoint/2010/main" val="568311001"/>
      </p:ext>
    </p:extLst>
  </p:cSld>
  <p:clrMapOvr>
    <a:masterClrMapping/>
  </p:clrMapOvr>
  <mc:AlternateContent xmlns:mc="http://schemas.openxmlformats.org/markup-compatibility/2006" xmlns:p14="http://schemas.microsoft.com/office/powerpoint/2010/main">
    <mc:Choice Requires="p14">
      <p:transition p14:dur="10">
        <p14:glitter pattern="hexagon"/>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riángulo rectángulo 4">
            <a:extLst>
              <a:ext uri="{FF2B5EF4-FFF2-40B4-BE49-F238E27FC236}">
                <a16:creationId xmlns:a16="http://schemas.microsoft.com/office/drawing/2014/main" id="{AB14C2AB-5230-6532-874B-A1FD8B5CB85D}"/>
              </a:ext>
            </a:extLst>
          </p:cNvPr>
          <p:cNvSpPr/>
          <p:nvPr/>
        </p:nvSpPr>
        <p:spPr>
          <a:xfrm rot="16200000" flipH="1">
            <a:off x="5694170" y="-4060847"/>
            <a:ext cx="2350927" cy="10644736"/>
          </a:xfrm>
          <a:prstGeom prst="rtTriangle">
            <a:avLst/>
          </a:prstGeom>
          <a:gradFill>
            <a:gsLst>
              <a:gs pos="50000">
                <a:srgbClr val="8DBFFB"/>
              </a:gs>
              <a:gs pos="74000">
                <a:srgbClr val="D6E8FE"/>
              </a:gs>
              <a:gs pos="83000">
                <a:srgbClr val="D6E8FE"/>
              </a:gs>
              <a:gs pos="100000">
                <a:srgbClr val="D6E8FE"/>
              </a:gs>
            </a:gsLst>
            <a:lin ang="5400000" scaled="1"/>
          </a:gradFill>
          <a:ln>
            <a:noFill/>
          </a:ln>
          <a:effectLst>
            <a:glow rad="152400">
              <a:srgbClr val="C3C0E6">
                <a:alpha val="40000"/>
              </a:srgbClr>
            </a:glow>
            <a:outerShdw blurRad="50800" dist="50800" dir="5400000" algn="ctr" rotWithShape="0">
              <a:srgbClr val="8DBFFB"/>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Triángulo rectángulo 3">
            <a:extLst>
              <a:ext uri="{FF2B5EF4-FFF2-40B4-BE49-F238E27FC236}">
                <a16:creationId xmlns:a16="http://schemas.microsoft.com/office/drawing/2014/main" id="{3C597F25-92E5-1E6F-E68B-912BBCF50C04}"/>
              </a:ext>
            </a:extLst>
          </p:cNvPr>
          <p:cNvSpPr/>
          <p:nvPr/>
        </p:nvSpPr>
        <p:spPr>
          <a:xfrm rot="10800000" flipH="1">
            <a:off x="0" y="86384"/>
            <a:ext cx="2350927" cy="6742712"/>
          </a:xfrm>
          <a:prstGeom prst="rtTriangle">
            <a:avLst/>
          </a:prstGeom>
          <a:gradFill>
            <a:gsLst>
              <a:gs pos="50000">
                <a:srgbClr val="8DBFFB"/>
              </a:gs>
              <a:gs pos="74000">
                <a:srgbClr val="D6E8FE"/>
              </a:gs>
              <a:gs pos="83000">
                <a:srgbClr val="D6E8FE"/>
              </a:gs>
              <a:gs pos="100000">
                <a:srgbClr val="D6E8FE"/>
              </a:gs>
            </a:gsLst>
            <a:lin ang="5400000" scaled="1"/>
          </a:gradFill>
          <a:ln>
            <a:noFill/>
          </a:ln>
          <a:effectLst>
            <a:glow rad="152400">
              <a:srgbClr val="C3C0E6">
                <a:alpha val="40000"/>
              </a:srgbClr>
            </a:glow>
            <a:outerShdw blurRad="50800" dist="50800" dir="5400000" algn="ctr" rotWithShape="0">
              <a:srgbClr val="8DBFFB"/>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2" name="Título 1">
            <a:extLst>
              <a:ext uri="{FF2B5EF4-FFF2-40B4-BE49-F238E27FC236}">
                <a16:creationId xmlns:a16="http://schemas.microsoft.com/office/drawing/2014/main" id="{D123B062-AF11-5051-1EF9-329A757214F1}"/>
              </a:ext>
            </a:extLst>
          </p:cNvPr>
          <p:cNvSpPr>
            <a:spLocks noGrp="1"/>
          </p:cNvSpPr>
          <p:nvPr>
            <p:ph type="title"/>
          </p:nvPr>
        </p:nvSpPr>
        <p:spPr>
          <a:xfrm>
            <a:off x="1011936" y="1017159"/>
            <a:ext cx="10168128" cy="1179576"/>
          </a:xfrm>
        </p:spPr>
        <p:txBody>
          <a:bodyPr>
            <a:normAutofit/>
          </a:bodyPr>
          <a:lstStyle/>
          <a:p>
            <a:pPr algn="ctr"/>
            <a:r>
              <a:rPr lang="es-CO" sz="5400" b="1" dirty="0">
                <a:latin typeface="Times New Roman" panose="02020603050405020304" pitchFamily="18" charset="0"/>
                <a:cs typeface="Times New Roman" panose="02020603050405020304" pitchFamily="18" charset="0"/>
              </a:rPr>
              <a:t>Formulación del problema</a:t>
            </a:r>
          </a:p>
        </p:txBody>
      </p:sp>
      <p:sp>
        <p:nvSpPr>
          <p:cNvPr id="3" name="Marcador de contenido 2">
            <a:extLst>
              <a:ext uri="{FF2B5EF4-FFF2-40B4-BE49-F238E27FC236}">
                <a16:creationId xmlns:a16="http://schemas.microsoft.com/office/drawing/2014/main" id="{393AC555-D0D6-BF25-66AD-C3C08307C35D}"/>
              </a:ext>
            </a:extLst>
          </p:cNvPr>
          <p:cNvSpPr>
            <a:spLocks noGrp="1"/>
          </p:cNvSpPr>
          <p:nvPr>
            <p:ph idx="1"/>
          </p:nvPr>
        </p:nvSpPr>
        <p:spPr>
          <a:xfrm>
            <a:off x="495300" y="2436985"/>
            <a:ext cx="11201400" cy="4153212"/>
          </a:xfrm>
        </p:spPr>
        <p:txBody>
          <a:bodyPr>
            <a:normAutofit/>
          </a:bodyPr>
          <a:lstStyle/>
          <a:p>
            <a:pPr marL="0" indent="0">
              <a:buNone/>
            </a:pPr>
            <a:r>
              <a:rPr lang="es-CO" dirty="0"/>
              <a:t>¿Cómo se puede elaborar y promover un emprendimiento de mochis como un postre innovador en la localidad de Usme para satisfacer la necesidad de variedad gastronómica y fomentar el emprendimiento local y utilizando una plataforma digital?</a:t>
            </a:r>
          </a:p>
        </p:txBody>
      </p:sp>
      <p:pic>
        <p:nvPicPr>
          <p:cNvPr id="7" name="Imagen 6" descr="Logotipo&#10;&#10;Descripción generada automáticamente">
            <a:extLst>
              <a:ext uri="{FF2B5EF4-FFF2-40B4-BE49-F238E27FC236}">
                <a16:creationId xmlns:a16="http://schemas.microsoft.com/office/drawing/2014/main" id="{F7A14A4C-580A-28CA-6225-CA09B9E82BD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45" y="47134"/>
            <a:ext cx="1651907" cy="1520890"/>
          </a:xfrm>
          <a:prstGeom prst="rect">
            <a:avLst/>
          </a:prstGeom>
        </p:spPr>
      </p:pic>
      <p:pic>
        <p:nvPicPr>
          <p:cNvPr id="8" name="Imagen 7"/>
          <p:cNvPicPr>
            <a:picLocks noChangeAspect="1"/>
          </p:cNvPicPr>
          <p:nvPr/>
        </p:nvPicPr>
        <p:blipFill>
          <a:blip r:embed="rId3"/>
          <a:stretch>
            <a:fillRect/>
          </a:stretch>
        </p:blipFill>
        <p:spPr>
          <a:xfrm>
            <a:off x="998138" y="4493562"/>
            <a:ext cx="1848091" cy="2310114"/>
          </a:xfrm>
          <a:prstGeom prst="rect">
            <a:avLst/>
          </a:prstGeom>
        </p:spPr>
      </p:pic>
      <p:pic>
        <p:nvPicPr>
          <p:cNvPr id="9" name="Imagen 8"/>
          <p:cNvPicPr>
            <a:picLocks noChangeAspect="1"/>
          </p:cNvPicPr>
          <p:nvPr/>
        </p:nvPicPr>
        <p:blipFill rotWithShape="1">
          <a:blip r:embed="rId4"/>
          <a:srcRect r="54" b="6285"/>
          <a:stretch/>
        </p:blipFill>
        <p:spPr>
          <a:xfrm>
            <a:off x="6247359" y="4538031"/>
            <a:ext cx="2099903" cy="2079744"/>
          </a:xfrm>
          <a:prstGeom prst="rect">
            <a:avLst/>
          </a:prstGeom>
        </p:spPr>
      </p:pic>
      <p:pic>
        <p:nvPicPr>
          <p:cNvPr id="10" name="Imagen 9"/>
          <p:cNvPicPr>
            <a:picLocks noChangeAspect="1"/>
          </p:cNvPicPr>
          <p:nvPr/>
        </p:nvPicPr>
        <p:blipFill>
          <a:blip r:embed="rId5"/>
          <a:stretch>
            <a:fillRect/>
          </a:stretch>
        </p:blipFill>
        <p:spPr>
          <a:xfrm>
            <a:off x="9340508" y="4511612"/>
            <a:ext cx="1322919" cy="2133740"/>
          </a:xfrm>
          <a:prstGeom prst="rect">
            <a:avLst/>
          </a:prstGeom>
        </p:spPr>
      </p:pic>
      <p:pic>
        <p:nvPicPr>
          <p:cNvPr id="11" name="Imagen 10"/>
          <p:cNvPicPr>
            <a:picLocks noChangeAspect="1"/>
          </p:cNvPicPr>
          <p:nvPr/>
        </p:nvPicPr>
        <p:blipFill>
          <a:blip r:embed="rId6"/>
          <a:stretch>
            <a:fillRect/>
          </a:stretch>
        </p:blipFill>
        <p:spPr>
          <a:xfrm>
            <a:off x="3381557" y="4440243"/>
            <a:ext cx="2330474" cy="2330474"/>
          </a:xfrm>
          <a:prstGeom prst="rect">
            <a:avLst/>
          </a:prstGeom>
        </p:spPr>
      </p:pic>
      <p:pic>
        <p:nvPicPr>
          <p:cNvPr id="12" name="Imagen 11"/>
          <p:cNvPicPr>
            <a:picLocks noChangeAspect="1"/>
          </p:cNvPicPr>
          <p:nvPr/>
        </p:nvPicPr>
        <p:blipFill>
          <a:blip r:embed="rId7"/>
          <a:stretch>
            <a:fillRect/>
          </a:stretch>
        </p:blipFill>
        <p:spPr>
          <a:xfrm>
            <a:off x="1186491" y="403587"/>
            <a:ext cx="1164437" cy="1164437"/>
          </a:xfrm>
          <a:prstGeom prst="rect">
            <a:avLst/>
          </a:prstGeom>
        </p:spPr>
      </p:pic>
      <p:pic>
        <p:nvPicPr>
          <p:cNvPr id="13" name="Imagen 12"/>
          <p:cNvPicPr>
            <a:picLocks noChangeAspect="1"/>
          </p:cNvPicPr>
          <p:nvPr/>
        </p:nvPicPr>
        <p:blipFill>
          <a:blip r:embed="rId7"/>
          <a:stretch>
            <a:fillRect/>
          </a:stretch>
        </p:blipFill>
        <p:spPr>
          <a:xfrm>
            <a:off x="10663427" y="1037746"/>
            <a:ext cx="1164437" cy="1164437"/>
          </a:xfrm>
          <a:prstGeom prst="rect">
            <a:avLst/>
          </a:prstGeom>
        </p:spPr>
      </p:pic>
      <p:pic>
        <p:nvPicPr>
          <p:cNvPr id="14" name="Imagen 13"/>
          <p:cNvPicPr>
            <a:picLocks noChangeAspect="1"/>
          </p:cNvPicPr>
          <p:nvPr/>
        </p:nvPicPr>
        <p:blipFill>
          <a:blip r:embed="rId7"/>
          <a:stretch>
            <a:fillRect/>
          </a:stretch>
        </p:blipFill>
        <p:spPr>
          <a:xfrm>
            <a:off x="5580467" y="97084"/>
            <a:ext cx="1164437" cy="1164437"/>
          </a:xfrm>
          <a:prstGeom prst="rect">
            <a:avLst/>
          </a:prstGeom>
        </p:spPr>
      </p:pic>
      <p:pic>
        <p:nvPicPr>
          <p:cNvPr id="15" name="Imagen 14"/>
          <p:cNvPicPr>
            <a:picLocks noChangeAspect="1"/>
          </p:cNvPicPr>
          <p:nvPr/>
        </p:nvPicPr>
        <p:blipFill>
          <a:blip r:embed="rId7"/>
          <a:stretch>
            <a:fillRect/>
          </a:stretch>
        </p:blipFill>
        <p:spPr>
          <a:xfrm>
            <a:off x="-4048" y="1568024"/>
            <a:ext cx="1164437" cy="1164437"/>
          </a:xfrm>
          <a:prstGeom prst="rect">
            <a:avLst/>
          </a:prstGeom>
        </p:spPr>
      </p:pic>
      <p:pic>
        <p:nvPicPr>
          <p:cNvPr id="16" name="Imagen 15"/>
          <p:cNvPicPr>
            <a:picLocks noChangeAspect="1"/>
          </p:cNvPicPr>
          <p:nvPr/>
        </p:nvPicPr>
        <p:blipFill>
          <a:blip r:embed="rId7"/>
          <a:stretch>
            <a:fillRect/>
          </a:stretch>
        </p:blipFill>
        <p:spPr>
          <a:xfrm>
            <a:off x="10927049" y="4698730"/>
            <a:ext cx="1164437" cy="1164437"/>
          </a:xfrm>
          <a:prstGeom prst="rect">
            <a:avLst/>
          </a:prstGeom>
        </p:spPr>
      </p:pic>
      <p:pic>
        <p:nvPicPr>
          <p:cNvPr id="17" name="Imagen 16"/>
          <p:cNvPicPr>
            <a:picLocks noChangeAspect="1"/>
          </p:cNvPicPr>
          <p:nvPr/>
        </p:nvPicPr>
        <p:blipFill>
          <a:blip r:embed="rId8"/>
          <a:stretch>
            <a:fillRect/>
          </a:stretch>
        </p:blipFill>
        <p:spPr>
          <a:xfrm>
            <a:off x="5580467" y="5382956"/>
            <a:ext cx="451143" cy="445047"/>
          </a:xfrm>
          <a:prstGeom prst="rect">
            <a:avLst/>
          </a:prstGeom>
        </p:spPr>
      </p:pic>
      <p:pic>
        <p:nvPicPr>
          <p:cNvPr id="18" name="Imagen 17"/>
          <p:cNvPicPr>
            <a:picLocks noChangeAspect="1"/>
          </p:cNvPicPr>
          <p:nvPr/>
        </p:nvPicPr>
        <p:blipFill>
          <a:blip r:embed="rId8"/>
          <a:stretch>
            <a:fillRect/>
          </a:stretch>
        </p:blipFill>
        <p:spPr>
          <a:xfrm>
            <a:off x="5975653" y="5169477"/>
            <a:ext cx="263513" cy="259952"/>
          </a:xfrm>
          <a:prstGeom prst="rect">
            <a:avLst/>
          </a:prstGeom>
        </p:spPr>
      </p:pic>
      <p:pic>
        <p:nvPicPr>
          <p:cNvPr id="19" name="Imagen 18"/>
          <p:cNvPicPr>
            <a:picLocks noChangeAspect="1"/>
          </p:cNvPicPr>
          <p:nvPr/>
        </p:nvPicPr>
        <p:blipFill>
          <a:blip r:embed="rId8"/>
          <a:stretch>
            <a:fillRect/>
          </a:stretch>
        </p:blipFill>
        <p:spPr>
          <a:xfrm>
            <a:off x="5959081" y="5748836"/>
            <a:ext cx="296655" cy="292646"/>
          </a:xfrm>
          <a:prstGeom prst="rect">
            <a:avLst/>
          </a:prstGeom>
        </p:spPr>
      </p:pic>
      <p:pic>
        <p:nvPicPr>
          <p:cNvPr id="20" name="Imagen 19"/>
          <p:cNvPicPr>
            <a:picLocks noChangeAspect="1"/>
          </p:cNvPicPr>
          <p:nvPr/>
        </p:nvPicPr>
        <p:blipFill>
          <a:blip r:embed="rId8"/>
          <a:stretch>
            <a:fillRect/>
          </a:stretch>
        </p:blipFill>
        <p:spPr>
          <a:xfrm>
            <a:off x="2853945" y="398948"/>
            <a:ext cx="451143" cy="445047"/>
          </a:xfrm>
          <a:prstGeom prst="rect">
            <a:avLst/>
          </a:prstGeom>
        </p:spPr>
      </p:pic>
      <p:pic>
        <p:nvPicPr>
          <p:cNvPr id="21" name="Imagen 20"/>
          <p:cNvPicPr>
            <a:picLocks noChangeAspect="1"/>
          </p:cNvPicPr>
          <p:nvPr/>
        </p:nvPicPr>
        <p:blipFill>
          <a:blip r:embed="rId8"/>
          <a:stretch>
            <a:fillRect/>
          </a:stretch>
        </p:blipFill>
        <p:spPr>
          <a:xfrm>
            <a:off x="3440291" y="708054"/>
            <a:ext cx="307816" cy="303657"/>
          </a:xfrm>
          <a:prstGeom prst="rect">
            <a:avLst/>
          </a:prstGeom>
        </p:spPr>
      </p:pic>
      <p:pic>
        <p:nvPicPr>
          <p:cNvPr id="22" name="Imagen 21"/>
          <p:cNvPicPr>
            <a:picLocks noChangeAspect="1"/>
          </p:cNvPicPr>
          <p:nvPr/>
        </p:nvPicPr>
        <p:blipFill>
          <a:blip r:embed="rId8"/>
          <a:stretch>
            <a:fillRect/>
          </a:stretch>
        </p:blipFill>
        <p:spPr>
          <a:xfrm>
            <a:off x="8111868" y="4200393"/>
            <a:ext cx="451143" cy="445047"/>
          </a:xfrm>
          <a:prstGeom prst="rect">
            <a:avLst/>
          </a:prstGeom>
        </p:spPr>
      </p:pic>
      <p:pic>
        <p:nvPicPr>
          <p:cNvPr id="23" name="Imagen 22"/>
          <p:cNvPicPr>
            <a:picLocks noChangeAspect="1"/>
          </p:cNvPicPr>
          <p:nvPr/>
        </p:nvPicPr>
        <p:blipFill>
          <a:blip r:embed="rId8"/>
          <a:stretch>
            <a:fillRect/>
          </a:stretch>
        </p:blipFill>
        <p:spPr>
          <a:xfrm flipV="1">
            <a:off x="8552533" y="4556774"/>
            <a:ext cx="266151" cy="262555"/>
          </a:xfrm>
          <a:prstGeom prst="rect">
            <a:avLst/>
          </a:prstGeom>
        </p:spPr>
      </p:pic>
      <p:pic>
        <p:nvPicPr>
          <p:cNvPr id="24" name="Imagen 23"/>
          <p:cNvPicPr>
            <a:picLocks noChangeAspect="1"/>
          </p:cNvPicPr>
          <p:nvPr/>
        </p:nvPicPr>
        <p:blipFill>
          <a:blip r:embed="rId8"/>
          <a:stretch>
            <a:fillRect/>
          </a:stretch>
        </p:blipFill>
        <p:spPr>
          <a:xfrm>
            <a:off x="8042696" y="4760554"/>
            <a:ext cx="414524" cy="408923"/>
          </a:xfrm>
          <a:prstGeom prst="rect">
            <a:avLst/>
          </a:prstGeom>
        </p:spPr>
      </p:pic>
      <p:pic>
        <p:nvPicPr>
          <p:cNvPr id="25" name="Imagen 24"/>
          <p:cNvPicPr>
            <a:picLocks noChangeAspect="1"/>
          </p:cNvPicPr>
          <p:nvPr/>
        </p:nvPicPr>
        <p:blipFill>
          <a:blip r:embed="rId9"/>
          <a:stretch>
            <a:fillRect/>
          </a:stretch>
        </p:blipFill>
        <p:spPr>
          <a:xfrm>
            <a:off x="0" y="4538031"/>
            <a:ext cx="1164437" cy="1164437"/>
          </a:xfrm>
          <a:prstGeom prst="rect">
            <a:avLst/>
          </a:prstGeom>
        </p:spPr>
      </p:pic>
      <p:pic>
        <p:nvPicPr>
          <p:cNvPr id="26" name="Imagen 25"/>
          <p:cNvPicPr>
            <a:picLocks noChangeAspect="1"/>
          </p:cNvPicPr>
          <p:nvPr/>
        </p:nvPicPr>
        <p:blipFill>
          <a:blip r:embed="rId9"/>
          <a:stretch>
            <a:fillRect/>
          </a:stretch>
        </p:blipFill>
        <p:spPr>
          <a:xfrm>
            <a:off x="5513781" y="2846781"/>
            <a:ext cx="1164437" cy="1164437"/>
          </a:xfrm>
          <a:prstGeom prst="rect">
            <a:avLst/>
          </a:prstGeom>
        </p:spPr>
      </p:pic>
      <p:sp>
        <p:nvSpPr>
          <p:cNvPr id="27" name="CuadroTexto 26">
            <a:extLst>
              <a:ext uri="{FF2B5EF4-FFF2-40B4-BE49-F238E27FC236}">
                <a16:creationId xmlns:a16="http://schemas.microsoft.com/office/drawing/2014/main" id="{CB358B7C-AE9D-3C8E-5943-8061285B9525}"/>
              </a:ext>
            </a:extLst>
          </p:cNvPr>
          <p:cNvSpPr txBox="1"/>
          <p:nvPr/>
        </p:nvSpPr>
        <p:spPr>
          <a:xfrm>
            <a:off x="7022059" y="84265"/>
            <a:ext cx="5121723" cy="584775"/>
          </a:xfrm>
          <a:prstGeom prst="rect">
            <a:avLst/>
          </a:prstGeom>
          <a:noFill/>
          <a:effectLst>
            <a:glow rad="127000">
              <a:srgbClr val="C3C0E6"/>
            </a:glow>
            <a:outerShdw blurRad="50800" dist="50800" dir="5400000" algn="ctr" rotWithShape="0">
              <a:srgbClr val="C3C0E6"/>
            </a:outerShdw>
          </a:effectLst>
        </p:spPr>
        <p:txBody>
          <a:bodyPr wrap="none" rtlCol="0">
            <a:spAutoFit/>
          </a:bodyPr>
          <a:lstStyle/>
          <a:p>
            <a:pPr algn="r"/>
            <a:r>
              <a:rPr lang="es-CO" sz="1600" dirty="0">
                <a:effectLst>
                  <a:outerShdw blurRad="50800" dist="50800" dir="5400000" algn="ctr" rotWithShape="0">
                    <a:schemeClr val="bg1">
                      <a:lumMod val="75000"/>
                    </a:schemeClr>
                  </a:outerShdw>
                </a:effectLst>
              </a:rPr>
              <a:t>COLEGIO TÉCNICO DISTRITAL PAULO FREIRE IED</a:t>
            </a:r>
          </a:p>
          <a:p>
            <a:pPr algn="r"/>
            <a:r>
              <a:rPr lang="es-CO" sz="1600" dirty="0">
                <a:effectLst>
                  <a:outerShdw blurRad="50800" dist="50800" dir="5400000" algn="ctr" rotWithShape="0">
                    <a:schemeClr val="bg1">
                      <a:lumMod val="75000"/>
                    </a:schemeClr>
                  </a:outerShdw>
                </a:effectLst>
              </a:rPr>
              <a:t>SUSTENTACIÓN PROYECTO DE GRADO 2026</a:t>
            </a:r>
          </a:p>
        </p:txBody>
      </p:sp>
    </p:spTree>
    <p:extLst>
      <p:ext uri="{BB962C8B-B14F-4D97-AF65-F5344CB8AC3E}">
        <p14:creationId xmlns:p14="http://schemas.microsoft.com/office/powerpoint/2010/main" val="4246980529"/>
      </p:ext>
    </p:extLst>
  </p:cSld>
  <p:clrMapOvr>
    <a:masterClrMapping/>
  </p:clrMapOvr>
  <mc:AlternateContent xmlns:mc="http://schemas.openxmlformats.org/markup-compatibility/2006" xmlns:p14="http://schemas.microsoft.com/office/powerpoint/2010/main">
    <mc:Choice Requires="p14">
      <p:transition p14:dur="10">
        <p14:glitter pattern="hexagon"/>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riángulo rectángulo 4">
            <a:extLst>
              <a:ext uri="{FF2B5EF4-FFF2-40B4-BE49-F238E27FC236}">
                <a16:creationId xmlns:a16="http://schemas.microsoft.com/office/drawing/2014/main" id="{AB14C2AB-5230-6532-874B-A1FD8B5CB85D}"/>
              </a:ext>
            </a:extLst>
          </p:cNvPr>
          <p:cNvSpPr/>
          <p:nvPr/>
        </p:nvSpPr>
        <p:spPr>
          <a:xfrm rot="16200000" flipH="1">
            <a:off x="5694170" y="-4060847"/>
            <a:ext cx="2350927" cy="10644736"/>
          </a:xfrm>
          <a:prstGeom prst="rtTriangle">
            <a:avLst/>
          </a:prstGeom>
          <a:gradFill>
            <a:gsLst>
              <a:gs pos="50000">
                <a:srgbClr val="8DBFFB"/>
              </a:gs>
              <a:gs pos="74000">
                <a:srgbClr val="D6E8FE"/>
              </a:gs>
              <a:gs pos="83000">
                <a:srgbClr val="D6E8FE"/>
              </a:gs>
              <a:gs pos="100000">
                <a:srgbClr val="D6E8FE"/>
              </a:gs>
            </a:gsLst>
            <a:lin ang="5400000" scaled="1"/>
          </a:gradFill>
          <a:ln>
            <a:noFill/>
          </a:ln>
          <a:effectLst>
            <a:glow rad="152400">
              <a:srgbClr val="C3C0E6">
                <a:alpha val="40000"/>
              </a:srgbClr>
            </a:glow>
            <a:outerShdw blurRad="50800" dist="50800" dir="5400000" algn="ctr" rotWithShape="0">
              <a:srgbClr val="8DBFFB"/>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Triángulo rectángulo 3">
            <a:extLst>
              <a:ext uri="{FF2B5EF4-FFF2-40B4-BE49-F238E27FC236}">
                <a16:creationId xmlns:a16="http://schemas.microsoft.com/office/drawing/2014/main" id="{3C597F25-92E5-1E6F-E68B-912BBCF50C04}"/>
              </a:ext>
            </a:extLst>
          </p:cNvPr>
          <p:cNvSpPr/>
          <p:nvPr/>
        </p:nvSpPr>
        <p:spPr>
          <a:xfrm rot="10800000" flipH="1">
            <a:off x="0" y="86384"/>
            <a:ext cx="2350927" cy="6742712"/>
          </a:xfrm>
          <a:prstGeom prst="rtTriangle">
            <a:avLst/>
          </a:prstGeom>
          <a:gradFill>
            <a:gsLst>
              <a:gs pos="50000">
                <a:srgbClr val="8DBFFB"/>
              </a:gs>
              <a:gs pos="74000">
                <a:srgbClr val="D6E8FE"/>
              </a:gs>
              <a:gs pos="83000">
                <a:srgbClr val="D6E8FE"/>
              </a:gs>
              <a:gs pos="100000">
                <a:srgbClr val="D6E8FE"/>
              </a:gs>
            </a:gsLst>
            <a:lin ang="5400000" scaled="1"/>
          </a:gradFill>
          <a:ln>
            <a:noFill/>
          </a:ln>
          <a:effectLst>
            <a:glow rad="152400">
              <a:srgbClr val="C3C0E6">
                <a:alpha val="40000"/>
              </a:srgbClr>
            </a:glow>
            <a:outerShdw blurRad="50800" dist="50800" dir="5400000" algn="ctr" rotWithShape="0">
              <a:srgbClr val="8DBFFB"/>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2" name="Título 1">
            <a:extLst>
              <a:ext uri="{FF2B5EF4-FFF2-40B4-BE49-F238E27FC236}">
                <a16:creationId xmlns:a16="http://schemas.microsoft.com/office/drawing/2014/main" id="{D123B062-AF11-5051-1EF9-329A757214F1}"/>
              </a:ext>
            </a:extLst>
          </p:cNvPr>
          <p:cNvSpPr>
            <a:spLocks noGrp="1"/>
          </p:cNvSpPr>
          <p:nvPr>
            <p:ph type="title"/>
          </p:nvPr>
        </p:nvSpPr>
        <p:spPr>
          <a:xfrm>
            <a:off x="1011936" y="1017159"/>
            <a:ext cx="10168128" cy="1179576"/>
          </a:xfrm>
        </p:spPr>
        <p:txBody>
          <a:bodyPr>
            <a:normAutofit/>
          </a:bodyPr>
          <a:lstStyle/>
          <a:p>
            <a:pPr algn="ctr"/>
            <a:r>
              <a:rPr lang="es-CO" sz="5400" b="1" dirty="0">
                <a:latin typeface="Times New Roman" panose="02020603050405020304" pitchFamily="18" charset="0"/>
                <a:cs typeface="Times New Roman" panose="02020603050405020304" pitchFamily="18" charset="0"/>
              </a:rPr>
              <a:t>Objetivo General</a:t>
            </a:r>
          </a:p>
        </p:txBody>
      </p:sp>
      <p:sp>
        <p:nvSpPr>
          <p:cNvPr id="3" name="Marcador de contenido 2">
            <a:extLst>
              <a:ext uri="{FF2B5EF4-FFF2-40B4-BE49-F238E27FC236}">
                <a16:creationId xmlns:a16="http://schemas.microsoft.com/office/drawing/2014/main" id="{393AC555-D0D6-BF25-66AD-C3C08307C35D}"/>
              </a:ext>
            </a:extLst>
          </p:cNvPr>
          <p:cNvSpPr>
            <a:spLocks noGrp="1"/>
          </p:cNvSpPr>
          <p:nvPr>
            <p:ph idx="1"/>
          </p:nvPr>
        </p:nvSpPr>
        <p:spPr>
          <a:xfrm>
            <a:off x="495300" y="2436985"/>
            <a:ext cx="11201400" cy="4153212"/>
          </a:xfrm>
        </p:spPr>
        <p:txBody>
          <a:bodyPr>
            <a:normAutofit/>
          </a:bodyPr>
          <a:lstStyle/>
          <a:p>
            <a:pPr marL="0" indent="0">
              <a:buNone/>
            </a:pPr>
            <a:r>
              <a:rPr lang="es-CO" dirty="0"/>
              <a:t>Diseñar el modelo de negocio de la empresa “Mochilandia” para su posicionamiento en el mercado local utilizando una plataforma digital para el año 2026.</a:t>
            </a:r>
          </a:p>
        </p:txBody>
      </p:sp>
      <p:pic>
        <p:nvPicPr>
          <p:cNvPr id="7" name="Imagen 6" descr="Logotipo&#10;&#10;Descripción generada automáticamente">
            <a:extLst>
              <a:ext uri="{FF2B5EF4-FFF2-40B4-BE49-F238E27FC236}">
                <a16:creationId xmlns:a16="http://schemas.microsoft.com/office/drawing/2014/main" id="{F7A14A4C-580A-28CA-6225-CA09B9E82BD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45" y="47134"/>
            <a:ext cx="1651907" cy="1520890"/>
          </a:xfrm>
          <a:prstGeom prst="rect">
            <a:avLst/>
          </a:prstGeom>
        </p:spPr>
      </p:pic>
      <p:pic>
        <p:nvPicPr>
          <p:cNvPr id="9" name="Imagen 8"/>
          <p:cNvPicPr>
            <a:picLocks noChangeAspect="1"/>
          </p:cNvPicPr>
          <p:nvPr/>
        </p:nvPicPr>
        <p:blipFill>
          <a:blip r:embed="rId3"/>
          <a:stretch>
            <a:fillRect/>
          </a:stretch>
        </p:blipFill>
        <p:spPr>
          <a:xfrm>
            <a:off x="1365092" y="4630758"/>
            <a:ext cx="2466975" cy="1847850"/>
          </a:xfrm>
          <a:prstGeom prst="rect">
            <a:avLst/>
          </a:prstGeom>
        </p:spPr>
      </p:pic>
      <p:pic>
        <p:nvPicPr>
          <p:cNvPr id="10" name="Imagen 9"/>
          <p:cNvPicPr>
            <a:picLocks noChangeAspect="1"/>
          </p:cNvPicPr>
          <p:nvPr/>
        </p:nvPicPr>
        <p:blipFill>
          <a:blip r:embed="rId4"/>
          <a:stretch>
            <a:fillRect/>
          </a:stretch>
        </p:blipFill>
        <p:spPr>
          <a:xfrm>
            <a:off x="5435492" y="4150610"/>
            <a:ext cx="2143125" cy="2143125"/>
          </a:xfrm>
          <a:prstGeom prst="rect">
            <a:avLst/>
          </a:prstGeom>
        </p:spPr>
      </p:pic>
      <p:pic>
        <p:nvPicPr>
          <p:cNvPr id="12" name="Imagen 11"/>
          <p:cNvPicPr>
            <a:picLocks noChangeAspect="1"/>
          </p:cNvPicPr>
          <p:nvPr/>
        </p:nvPicPr>
        <p:blipFill>
          <a:blip r:embed="rId5"/>
          <a:stretch>
            <a:fillRect/>
          </a:stretch>
        </p:blipFill>
        <p:spPr>
          <a:xfrm>
            <a:off x="8386456" y="3716666"/>
            <a:ext cx="2876735" cy="2876735"/>
          </a:xfrm>
          <a:prstGeom prst="rect">
            <a:avLst/>
          </a:prstGeom>
        </p:spPr>
      </p:pic>
      <p:pic>
        <p:nvPicPr>
          <p:cNvPr id="13" name="Imagen 12"/>
          <p:cNvPicPr>
            <a:picLocks noChangeAspect="1"/>
          </p:cNvPicPr>
          <p:nvPr/>
        </p:nvPicPr>
        <p:blipFill>
          <a:blip r:embed="rId6"/>
          <a:stretch>
            <a:fillRect/>
          </a:stretch>
        </p:blipFill>
        <p:spPr>
          <a:xfrm>
            <a:off x="1253471" y="323351"/>
            <a:ext cx="1164437" cy="1164437"/>
          </a:xfrm>
          <a:prstGeom prst="rect">
            <a:avLst/>
          </a:prstGeom>
        </p:spPr>
      </p:pic>
      <p:pic>
        <p:nvPicPr>
          <p:cNvPr id="14" name="Imagen 13"/>
          <p:cNvPicPr>
            <a:picLocks noChangeAspect="1"/>
          </p:cNvPicPr>
          <p:nvPr/>
        </p:nvPicPr>
        <p:blipFill>
          <a:blip r:embed="rId6"/>
          <a:stretch>
            <a:fillRect/>
          </a:stretch>
        </p:blipFill>
        <p:spPr>
          <a:xfrm>
            <a:off x="5658099" y="138479"/>
            <a:ext cx="1164437" cy="1164437"/>
          </a:xfrm>
          <a:prstGeom prst="rect">
            <a:avLst/>
          </a:prstGeom>
        </p:spPr>
      </p:pic>
      <p:pic>
        <p:nvPicPr>
          <p:cNvPr id="15" name="Imagen 14"/>
          <p:cNvPicPr>
            <a:picLocks noChangeAspect="1"/>
          </p:cNvPicPr>
          <p:nvPr/>
        </p:nvPicPr>
        <p:blipFill>
          <a:blip r:embed="rId6"/>
          <a:stretch>
            <a:fillRect/>
          </a:stretch>
        </p:blipFill>
        <p:spPr>
          <a:xfrm>
            <a:off x="10345205" y="776909"/>
            <a:ext cx="1164437" cy="1164437"/>
          </a:xfrm>
          <a:prstGeom prst="rect">
            <a:avLst/>
          </a:prstGeom>
        </p:spPr>
      </p:pic>
      <p:pic>
        <p:nvPicPr>
          <p:cNvPr id="16" name="Imagen 15"/>
          <p:cNvPicPr>
            <a:picLocks noChangeAspect="1"/>
          </p:cNvPicPr>
          <p:nvPr/>
        </p:nvPicPr>
        <p:blipFill>
          <a:blip r:embed="rId6"/>
          <a:stretch>
            <a:fillRect/>
          </a:stretch>
        </p:blipFill>
        <p:spPr>
          <a:xfrm>
            <a:off x="13137" y="4048539"/>
            <a:ext cx="1164437" cy="1164437"/>
          </a:xfrm>
          <a:prstGeom prst="rect">
            <a:avLst/>
          </a:prstGeom>
        </p:spPr>
      </p:pic>
      <p:pic>
        <p:nvPicPr>
          <p:cNvPr id="17" name="Imagen 16"/>
          <p:cNvPicPr>
            <a:picLocks noChangeAspect="1"/>
          </p:cNvPicPr>
          <p:nvPr/>
        </p:nvPicPr>
        <p:blipFill>
          <a:blip r:embed="rId6"/>
          <a:stretch>
            <a:fillRect/>
          </a:stretch>
        </p:blipFill>
        <p:spPr>
          <a:xfrm>
            <a:off x="3249848" y="47134"/>
            <a:ext cx="1164437" cy="1164437"/>
          </a:xfrm>
          <a:prstGeom prst="rect">
            <a:avLst/>
          </a:prstGeom>
        </p:spPr>
      </p:pic>
      <p:pic>
        <p:nvPicPr>
          <p:cNvPr id="18" name="Imagen 17"/>
          <p:cNvPicPr>
            <a:picLocks noChangeAspect="1"/>
          </p:cNvPicPr>
          <p:nvPr/>
        </p:nvPicPr>
        <p:blipFill>
          <a:blip r:embed="rId6"/>
          <a:stretch>
            <a:fillRect/>
          </a:stretch>
        </p:blipFill>
        <p:spPr>
          <a:xfrm>
            <a:off x="4195609" y="4754377"/>
            <a:ext cx="1164437" cy="1164437"/>
          </a:xfrm>
          <a:prstGeom prst="rect">
            <a:avLst/>
          </a:prstGeom>
        </p:spPr>
      </p:pic>
      <p:pic>
        <p:nvPicPr>
          <p:cNvPr id="19" name="Imagen 18"/>
          <p:cNvPicPr>
            <a:picLocks noChangeAspect="1"/>
          </p:cNvPicPr>
          <p:nvPr/>
        </p:nvPicPr>
        <p:blipFill>
          <a:blip r:embed="rId6"/>
          <a:stretch>
            <a:fillRect/>
          </a:stretch>
        </p:blipFill>
        <p:spPr>
          <a:xfrm>
            <a:off x="8640293" y="3476416"/>
            <a:ext cx="1164437" cy="1164437"/>
          </a:xfrm>
          <a:prstGeom prst="rect">
            <a:avLst/>
          </a:prstGeom>
        </p:spPr>
      </p:pic>
      <p:pic>
        <p:nvPicPr>
          <p:cNvPr id="20" name="Imagen 19"/>
          <p:cNvPicPr>
            <a:picLocks noChangeAspect="1"/>
          </p:cNvPicPr>
          <p:nvPr/>
        </p:nvPicPr>
        <p:blipFill>
          <a:blip r:embed="rId6"/>
          <a:stretch>
            <a:fillRect/>
          </a:stretch>
        </p:blipFill>
        <p:spPr>
          <a:xfrm>
            <a:off x="10300046" y="5711517"/>
            <a:ext cx="1164437" cy="1164437"/>
          </a:xfrm>
          <a:prstGeom prst="rect">
            <a:avLst/>
          </a:prstGeom>
        </p:spPr>
      </p:pic>
      <p:pic>
        <p:nvPicPr>
          <p:cNvPr id="21" name="Imagen 20"/>
          <p:cNvPicPr>
            <a:picLocks noChangeAspect="1"/>
          </p:cNvPicPr>
          <p:nvPr/>
        </p:nvPicPr>
        <p:blipFill>
          <a:blip r:embed="rId7"/>
          <a:stretch>
            <a:fillRect/>
          </a:stretch>
        </p:blipFill>
        <p:spPr>
          <a:xfrm>
            <a:off x="8558033" y="1077905"/>
            <a:ext cx="451143" cy="445047"/>
          </a:xfrm>
          <a:prstGeom prst="rect">
            <a:avLst/>
          </a:prstGeom>
        </p:spPr>
      </p:pic>
      <p:pic>
        <p:nvPicPr>
          <p:cNvPr id="22" name="Imagen 21"/>
          <p:cNvPicPr>
            <a:picLocks noChangeAspect="1"/>
          </p:cNvPicPr>
          <p:nvPr/>
        </p:nvPicPr>
        <p:blipFill>
          <a:blip r:embed="rId7"/>
          <a:stretch>
            <a:fillRect/>
          </a:stretch>
        </p:blipFill>
        <p:spPr>
          <a:xfrm>
            <a:off x="8929890" y="921650"/>
            <a:ext cx="353485" cy="348709"/>
          </a:xfrm>
          <a:prstGeom prst="rect">
            <a:avLst/>
          </a:prstGeom>
        </p:spPr>
      </p:pic>
      <p:pic>
        <p:nvPicPr>
          <p:cNvPr id="23" name="Imagen 22"/>
          <p:cNvPicPr>
            <a:picLocks noChangeAspect="1"/>
          </p:cNvPicPr>
          <p:nvPr/>
        </p:nvPicPr>
        <p:blipFill>
          <a:blip r:embed="rId7"/>
          <a:stretch>
            <a:fillRect/>
          </a:stretch>
        </p:blipFill>
        <p:spPr>
          <a:xfrm>
            <a:off x="9009176" y="1389111"/>
            <a:ext cx="273637" cy="269940"/>
          </a:xfrm>
          <a:prstGeom prst="rect">
            <a:avLst/>
          </a:prstGeom>
        </p:spPr>
      </p:pic>
      <p:pic>
        <p:nvPicPr>
          <p:cNvPr id="24" name="Imagen 23"/>
          <p:cNvPicPr>
            <a:picLocks noChangeAspect="1"/>
          </p:cNvPicPr>
          <p:nvPr/>
        </p:nvPicPr>
        <p:blipFill>
          <a:blip r:embed="rId7"/>
          <a:stretch>
            <a:fillRect/>
          </a:stretch>
        </p:blipFill>
        <p:spPr>
          <a:xfrm>
            <a:off x="2321012" y="1530767"/>
            <a:ext cx="451143" cy="445047"/>
          </a:xfrm>
          <a:prstGeom prst="rect">
            <a:avLst/>
          </a:prstGeom>
        </p:spPr>
      </p:pic>
      <p:pic>
        <p:nvPicPr>
          <p:cNvPr id="25" name="Imagen 24"/>
          <p:cNvPicPr>
            <a:picLocks noChangeAspect="1"/>
          </p:cNvPicPr>
          <p:nvPr/>
        </p:nvPicPr>
        <p:blipFill>
          <a:blip r:embed="rId7"/>
          <a:stretch>
            <a:fillRect/>
          </a:stretch>
        </p:blipFill>
        <p:spPr>
          <a:xfrm>
            <a:off x="2697059" y="1309846"/>
            <a:ext cx="273637" cy="269940"/>
          </a:xfrm>
          <a:prstGeom prst="rect">
            <a:avLst/>
          </a:prstGeom>
        </p:spPr>
      </p:pic>
      <p:pic>
        <p:nvPicPr>
          <p:cNvPr id="26" name="Imagen 25"/>
          <p:cNvPicPr>
            <a:picLocks noChangeAspect="1"/>
          </p:cNvPicPr>
          <p:nvPr/>
        </p:nvPicPr>
        <p:blipFill>
          <a:blip r:embed="rId7"/>
          <a:stretch>
            <a:fillRect/>
          </a:stretch>
        </p:blipFill>
        <p:spPr>
          <a:xfrm>
            <a:off x="1991434" y="1670153"/>
            <a:ext cx="273637" cy="269940"/>
          </a:xfrm>
          <a:prstGeom prst="rect">
            <a:avLst/>
          </a:prstGeom>
        </p:spPr>
      </p:pic>
      <p:pic>
        <p:nvPicPr>
          <p:cNvPr id="27" name="Imagen 26"/>
          <p:cNvPicPr>
            <a:picLocks noChangeAspect="1"/>
          </p:cNvPicPr>
          <p:nvPr/>
        </p:nvPicPr>
        <p:blipFill>
          <a:blip r:embed="rId7"/>
          <a:stretch>
            <a:fillRect/>
          </a:stretch>
        </p:blipFill>
        <p:spPr>
          <a:xfrm>
            <a:off x="3738663" y="3851727"/>
            <a:ext cx="389875" cy="384607"/>
          </a:xfrm>
          <a:prstGeom prst="rect">
            <a:avLst/>
          </a:prstGeom>
        </p:spPr>
      </p:pic>
      <p:pic>
        <p:nvPicPr>
          <p:cNvPr id="28" name="Imagen 27"/>
          <p:cNvPicPr>
            <a:picLocks noChangeAspect="1"/>
          </p:cNvPicPr>
          <p:nvPr/>
        </p:nvPicPr>
        <p:blipFill>
          <a:blip r:embed="rId7"/>
          <a:stretch>
            <a:fillRect/>
          </a:stretch>
        </p:blipFill>
        <p:spPr>
          <a:xfrm>
            <a:off x="4060578" y="3678554"/>
            <a:ext cx="279539" cy="275762"/>
          </a:xfrm>
          <a:prstGeom prst="rect">
            <a:avLst/>
          </a:prstGeom>
        </p:spPr>
      </p:pic>
      <p:pic>
        <p:nvPicPr>
          <p:cNvPr id="29" name="Imagen 28"/>
          <p:cNvPicPr>
            <a:picLocks noChangeAspect="1"/>
          </p:cNvPicPr>
          <p:nvPr/>
        </p:nvPicPr>
        <p:blipFill>
          <a:blip r:embed="rId7"/>
          <a:stretch>
            <a:fillRect/>
          </a:stretch>
        </p:blipFill>
        <p:spPr>
          <a:xfrm>
            <a:off x="7466939" y="4044030"/>
            <a:ext cx="285008" cy="281157"/>
          </a:xfrm>
          <a:prstGeom prst="rect">
            <a:avLst/>
          </a:prstGeom>
        </p:spPr>
      </p:pic>
      <p:pic>
        <p:nvPicPr>
          <p:cNvPr id="30" name="Imagen 29"/>
          <p:cNvPicPr>
            <a:picLocks noChangeAspect="1"/>
          </p:cNvPicPr>
          <p:nvPr/>
        </p:nvPicPr>
        <p:blipFill>
          <a:blip r:embed="rId7"/>
          <a:stretch>
            <a:fillRect/>
          </a:stretch>
        </p:blipFill>
        <p:spPr>
          <a:xfrm>
            <a:off x="7781933" y="4418329"/>
            <a:ext cx="451143" cy="445047"/>
          </a:xfrm>
          <a:prstGeom prst="rect">
            <a:avLst/>
          </a:prstGeom>
        </p:spPr>
      </p:pic>
      <p:pic>
        <p:nvPicPr>
          <p:cNvPr id="32" name="Imagen 31"/>
          <p:cNvPicPr>
            <a:picLocks noChangeAspect="1"/>
          </p:cNvPicPr>
          <p:nvPr/>
        </p:nvPicPr>
        <p:blipFill>
          <a:blip r:embed="rId8"/>
          <a:stretch>
            <a:fillRect/>
          </a:stretch>
        </p:blipFill>
        <p:spPr>
          <a:xfrm>
            <a:off x="5360046" y="3637947"/>
            <a:ext cx="451143" cy="445047"/>
          </a:xfrm>
          <a:prstGeom prst="rect">
            <a:avLst/>
          </a:prstGeom>
        </p:spPr>
      </p:pic>
      <p:sp>
        <p:nvSpPr>
          <p:cNvPr id="8" name="CuadroTexto 7">
            <a:extLst>
              <a:ext uri="{FF2B5EF4-FFF2-40B4-BE49-F238E27FC236}">
                <a16:creationId xmlns:a16="http://schemas.microsoft.com/office/drawing/2014/main" id="{EB4DE045-16AC-BF25-8F62-74E091B9290E}"/>
              </a:ext>
            </a:extLst>
          </p:cNvPr>
          <p:cNvSpPr txBox="1"/>
          <p:nvPr/>
        </p:nvSpPr>
        <p:spPr>
          <a:xfrm>
            <a:off x="7022059" y="84265"/>
            <a:ext cx="5121723" cy="584775"/>
          </a:xfrm>
          <a:prstGeom prst="rect">
            <a:avLst/>
          </a:prstGeom>
          <a:noFill/>
          <a:effectLst>
            <a:glow rad="127000">
              <a:srgbClr val="C3C0E6"/>
            </a:glow>
            <a:outerShdw blurRad="50800" dist="50800" dir="5400000" algn="ctr" rotWithShape="0">
              <a:srgbClr val="C3C0E6"/>
            </a:outerShdw>
          </a:effectLst>
        </p:spPr>
        <p:txBody>
          <a:bodyPr wrap="none" rtlCol="0">
            <a:spAutoFit/>
          </a:bodyPr>
          <a:lstStyle/>
          <a:p>
            <a:pPr algn="r"/>
            <a:r>
              <a:rPr lang="es-CO" sz="1600" dirty="0">
                <a:effectLst>
                  <a:outerShdw blurRad="50800" dist="50800" dir="5400000" algn="ctr" rotWithShape="0">
                    <a:schemeClr val="bg1">
                      <a:lumMod val="75000"/>
                    </a:schemeClr>
                  </a:outerShdw>
                </a:effectLst>
              </a:rPr>
              <a:t>COLEGIO TÉCNICO DISTRITAL PAULO FREIRE IED</a:t>
            </a:r>
          </a:p>
          <a:p>
            <a:pPr algn="r"/>
            <a:r>
              <a:rPr lang="es-CO" sz="1600" dirty="0">
                <a:effectLst>
                  <a:outerShdw blurRad="50800" dist="50800" dir="5400000" algn="ctr" rotWithShape="0">
                    <a:schemeClr val="bg1">
                      <a:lumMod val="75000"/>
                    </a:schemeClr>
                  </a:outerShdw>
                </a:effectLst>
              </a:rPr>
              <a:t>SUSTENTACIÓN PROYECTO DE GRADO 2026</a:t>
            </a:r>
          </a:p>
        </p:txBody>
      </p:sp>
    </p:spTree>
    <p:extLst>
      <p:ext uri="{BB962C8B-B14F-4D97-AF65-F5344CB8AC3E}">
        <p14:creationId xmlns:p14="http://schemas.microsoft.com/office/powerpoint/2010/main" val="3261123888"/>
      </p:ext>
    </p:extLst>
  </p:cSld>
  <p:clrMapOvr>
    <a:masterClrMapping/>
  </p:clrMapOvr>
  <mc:AlternateContent xmlns:mc="http://schemas.openxmlformats.org/markup-compatibility/2006" xmlns:p14="http://schemas.microsoft.com/office/powerpoint/2010/main">
    <mc:Choice Requires="p14">
      <p:transition p14:dur="10">
        <p14:glitter pattern="hexagon"/>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riángulo rectángulo 4">
            <a:extLst>
              <a:ext uri="{FF2B5EF4-FFF2-40B4-BE49-F238E27FC236}">
                <a16:creationId xmlns:a16="http://schemas.microsoft.com/office/drawing/2014/main" id="{AB14C2AB-5230-6532-874B-A1FD8B5CB85D}"/>
              </a:ext>
            </a:extLst>
          </p:cNvPr>
          <p:cNvSpPr/>
          <p:nvPr/>
        </p:nvSpPr>
        <p:spPr>
          <a:xfrm rot="16200000" flipH="1">
            <a:off x="5694170" y="-4060847"/>
            <a:ext cx="2350927" cy="10644736"/>
          </a:xfrm>
          <a:prstGeom prst="rtTriangle">
            <a:avLst/>
          </a:prstGeom>
          <a:gradFill>
            <a:gsLst>
              <a:gs pos="50000">
                <a:srgbClr val="8DBFFB"/>
              </a:gs>
              <a:gs pos="74000">
                <a:srgbClr val="D6E8FE"/>
              </a:gs>
              <a:gs pos="83000">
                <a:srgbClr val="D6E8FE"/>
              </a:gs>
              <a:gs pos="100000">
                <a:srgbClr val="D6E8FE"/>
              </a:gs>
            </a:gsLst>
            <a:lin ang="5400000" scaled="1"/>
          </a:gradFill>
          <a:ln>
            <a:noFill/>
          </a:ln>
          <a:effectLst>
            <a:glow rad="152400">
              <a:srgbClr val="C3C0E6">
                <a:alpha val="40000"/>
              </a:srgbClr>
            </a:glow>
            <a:outerShdw blurRad="50800" dist="50800" dir="5400000" algn="ctr" rotWithShape="0">
              <a:srgbClr val="8DBFFB"/>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Triángulo rectángulo 3">
            <a:extLst>
              <a:ext uri="{FF2B5EF4-FFF2-40B4-BE49-F238E27FC236}">
                <a16:creationId xmlns:a16="http://schemas.microsoft.com/office/drawing/2014/main" id="{3C597F25-92E5-1E6F-E68B-912BBCF50C04}"/>
              </a:ext>
            </a:extLst>
          </p:cNvPr>
          <p:cNvSpPr/>
          <p:nvPr/>
        </p:nvSpPr>
        <p:spPr>
          <a:xfrm rot="10800000" flipH="1">
            <a:off x="0" y="86384"/>
            <a:ext cx="2350927" cy="6742712"/>
          </a:xfrm>
          <a:prstGeom prst="rtTriangle">
            <a:avLst/>
          </a:prstGeom>
          <a:gradFill>
            <a:gsLst>
              <a:gs pos="50000">
                <a:srgbClr val="8DBFFB"/>
              </a:gs>
              <a:gs pos="74000">
                <a:srgbClr val="D6E8FE"/>
              </a:gs>
              <a:gs pos="83000">
                <a:srgbClr val="D6E8FE"/>
              </a:gs>
              <a:gs pos="100000">
                <a:srgbClr val="D6E8FE"/>
              </a:gs>
            </a:gsLst>
            <a:lin ang="5400000" scaled="1"/>
          </a:gradFill>
          <a:ln>
            <a:noFill/>
          </a:ln>
          <a:effectLst>
            <a:glow rad="152400">
              <a:srgbClr val="C3C0E6">
                <a:alpha val="40000"/>
              </a:srgbClr>
            </a:glow>
            <a:outerShdw blurRad="50800" dist="50800" dir="5400000" algn="ctr" rotWithShape="0">
              <a:srgbClr val="8DBFFB"/>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2" name="Título 1">
            <a:extLst>
              <a:ext uri="{FF2B5EF4-FFF2-40B4-BE49-F238E27FC236}">
                <a16:creationId xmlns:a16="http://schemas.microsoft.com/office/drawing/2014/main" id="{D123B062-AF11-5051-1EF9-329A757214F1}"/>
              </a:ext>
            </a:extLst>
          </p:cNvPr>
          <p:cNvSpPr>
            <a:spLocks noGrp="1"/>
          </p:cNvSpPr>
          <p:nvPr>
            <p:ph type="title"/>
          </p:nvPr>
        </p:nvSpPr>
        <p:spPr>
          <a:xfrm>
            <a:off x="1011936" y="1017159"/>
            <a:ext cx="10168128" cy="1179576"/>
          </a:xfrm>
        </p:spPr>
        <p:txBody>
          <a:bodyPr>
            <a:normAutofit/>
          </a:bodyPr>
          <a:lstStyle/>
          <a:p>
            <a:pPr algn="ctr"/>
            <a:r>
              <a:rPr lang="es-CO" sz="5400" b="1" dirty="0">
                <a:latin typeface="Times New Roman" panose="02020603050405020304" pitchFamily="18" charset="0"/>
                <a:cs typeface="Times New Roman" panose="02020603050405020304" pitchFamily="18" charset="0"/>
              </a:rPr>
              <a:t>Objetivos Específicos</a:t>
            </a:r>
          </a:p>
        </p:txBody>
      </p:sp>
      <p:sp>
        <p:nvSpPr>
          <p:cNvPr id="3" name="Marcador de contenido 2">
            <a:extLst>
              <a:ext uri="{FF2B5EF4-FFF2-40B4-BE49-F238E27FC236}">
                <a16:creationId xmlns:a16="http://schemas.microsoft.com/office/drawing/2014/main" id="{393AC555-D0D6-BF25-66AD-C3C08307C35D}"/>
              </a:ext>
            </a:extLst>
          </p:cNvPr>
          <p:cNvSpPr>
            <a:spLocks noGrp="1"/>
          </p:cNvSpPr>
          <p:nvPr>
            <p:ph idx="1"/>
          </p:nvPr>
        </p:nvSpPr>
        <p:spPr>
          <a:xfrm>
            <a:off x="495300" y="2436985"/>
            <a:ext cx="11201400" cy="4153212"/>
          </a:xfrm>
        </p:spPr>
        <p:txBody>
          <a:bodyPr>
            <a:normAutofit lnSpcReduction="10000"/>
          </a:bodyPr>
          <a:lstStyle/>
          <a:p>
            <a:r>
              <a:rPr lang="es-CO" dirty="0"/>
              <a:t>Investigar el origen, características y tipos de mochis como postre tradicional japonés y su proceso de elaboración.</a:t>
            </a:r>
          </a:p>
          <a:p>
            <a:r>
              <a:rPr lang="es-CO" dirty="0"/>
              <a:t>Desarrollar el plan de negocios para el emprendimiento Mochilandia. </a:t>
            </a:r>
          </a:p>
          <a:p>
            <a:r>
              <a:rPr lang="es-CO" dirty="0"/>
              <a:t>Analizar la aceptación de los mochis en la localidad de Usme a través de un instrumento estadístico.</a:t>
            </a:r>
          </a:p>
          <a:p>
            <a:r>
              <a:rPr lang="es-CO" dirty="0"/>
              <a:t>Crear una página web oficial que permita promocionar y comercializar los productos de manera digital.</a:t>
            </a:r>
          </a:p>
        </p:txBody>
      </p:sp>
      <p:pic>
        <p:nvPicPr>
          <p:cNvPr id="7" name="Imagen 6" descr="Logotipo&#10;&#10;Descripción generada automáticamente">
            <a:extLst>
              <a:ext uri="{FF2B5EF4-FFF2-40B4-BE49-F238E27FC236}">
                <a16:creationId xmlns:a16="http://schemas.microsoft.com/office/drawing/2014/main" id="{F7A14A4C-580A-28CA-6225-CA09B9E82BD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45" y="47134"/>
            <a:ext cx="1651907" cy="1520890"/>
          </a:xfrm>
          <a:prstGeom prst="rect">
            <a:avLst/>
          </a:prstGeom>
        </p:spPr>
      </p:pic>
      <p:pic>
        <p:nvPicPr>
          <p:cNvPr id="10" name="Imagen 9"/>
          <p:cNvPicPr>
            <a:picLocks noChangeAspect="1"/>
          </p:cNvPicPr>
          <p:nvPr/>
        </p:nvPicPr>
        <p:blipFill>
          <a:blip r:embed="rId3"/>
          <a:stretch>
            <a:fillRect/>
          </a:stretch>
        </p:blipFill>
        <p:spPr>
          <a:xfrm>
            <a:off x="965046" y="971690"/>
            <a:ext cx="1164437" cy="1164437"/>
          </a:xfrm>
          <a:prstGeom prst="rect">
            <a:avLst/>
          </a:prstGeom>
        </p:spPr>
      </p:pic>
      <p:pic>
        <p:nvPicPr>
          <p:cNvPr id="11" name="Imagen 10"/>
          <p:cNvPicPr>
            <a:picLocks noChangeAspect="1"/>
          </p:cNvPicPr>
          <p:nvPr/>
        </p:nvPicPr>
        <p:blipFill>
          <a:blip r:embed="rId3"/>
          <a:stretch>
            <a:fillRect/>
          </a:stretch>
        </p:blipFill>
        <p:spPr>
          <a:xfrm>
            <a:off x="10644735" y="939818"/>
            <a:ext cx="1164437" cy="1164437"/>
          </a:xfrm>
          <a:prstGeom prst="rect">
            <a:avLst/>
          </a:prstGeom>
        </p:spPr>
      </p:pic>
      <p:pic>
        <p:nvPicPr>
          <p:cNvPr id="12" name="Imagen 11"/>
          <p:cNvPicPr>
            <a:picLocks noChangeAspect="1"/>
          </p:cNvPicPr>
          <p:nvPr/>
        </p:nvPicPr>
        <p:blipFill>
          <a:blip r:embed="rId3"/>
          <a:stretch>
            <a:fillRect/>
          </a:stretch>
        </p:blipFill>
        <p:spPr>
          <a:xfrm rot="612834">
            <a:off x="5837577" y="67822"/>
            <a:ext cx="1164437" cy="1164437"/>
          </a:xfrm>
          <a:prstGeom prst="rect">
            <a:avLst/>
          </a:prstGeom>
        </p:spPr>
      </p:pic>
      <p:pic>
        <p:nvPicPr>
          <p:cNvPr id="13" name="Imagen 12"/>
          <p:cNvPicPr>
            <a:picLocks noChangeAspect="1"/>
          </p:cNvPicPr>
          <p:nvPr/>
        </p:nvPicPr>
        <p:blipFill>
          <a:blip r:embed="rId3"/>
          <a:stretch>
            <a:fillRect/>
          </a:stretch>
        </p:blipFill>
        <p:spPr>
          <a:xfrm>
            <a:off x="0" y="4143146"/>
            <a:ext cx="1164437" cy="1164437"/>
          </a:xfrm>
          <a:prstGeom prst="rect">
            <a:avLst/>
          </a:prstGeom>
        </p:spPr>
      </p:pic>
      <p:pic>
        <p:nvPicPr>
          <p:cNvPr id="14" name="Imagen 13"/>
          <p:cNvPicPr>
            <a:picLocks noChangeAspect="1"/>
          </p:cNvPicPr>
          <p:nvPr/>
        </p:nvPicPr>
        <p:blipFill>
          <a:blip r:embed="rId3"/>
          <a:stretch>
            <a:fillRect/>
          </a:stretch>
        </p:blipFill>
        <p:spPr>
          <a:xfrm>
            <a:off x="10644735" y="5196441"/>
            <a:ext cx="1164437" cy="1164437"/>
          </a:xfrm>
          <a:prstGeom prst="rect">
            <a:avLst/>
          </a:prstGeom>
        </p:spPr>
      </p:pic>
      <p:pic>
        <p:nvPicPr>
          <p:cNvPr id="15" name="Imagen 14"/>
          <p:cNvPicPr>
            <a:picLocks noChangeAspect="1"/>
          </p:cNvPicPr>
          <p:nvPr/>
        </p:nvPicPr>
        <p:blipFill>
          <a:blip r:embed="rId4"/>
          <a:stretch>
            <a:fillRect/>
          </a:stretch>
        </p:blipFill>
        <p:spPr>
          <a:xfrm>
            <a:off x="3318113" y="405748"/>
            <a:ext cx="376246" cy="371162"/>
          </a:xfrm>
          <a:prstGeom prst="rect">
            <a:avLst/>
          </a:prstGeom>
        </p:spPr>
      </p:pic>
      <p:pic>
        <p:nvPicPr>
          <p:cNvPr id="16" name="Imagen 15"/>
          <p:cNvPicPr>
            <a:picLocks noChangeAspect="1"/>
          </p:cNvPicPr>
          <p:nvPr/>
        </p:nvPicPr>
        <p:blipFill>
          <a:blip r:embed="rId4"/>
          <a:stretch>
            <a:fillRect/>
          </a:stretch>
        </p:blipFill>
        <p:spPr>
          <a:xfrm>
            <a:off x="3727543" y="591329"/>
            <a:ext cx="451143" cy="445047"/>
          </a:xfrm>
          <a:prstGeom prst="rect">
            <a:avLst/>
          </a:prstGeom>
        </p:spPr>
      </p:pic>
      <p:pic>
        <p:nvPicPr>
          <p:cNvPr id="17" name="Imagen 16"/>
          <p:cNvPicPr>
            <a:picLocks noChangeAspect="1"/>
          </p:cNvPicPr>
          <p:nvPr/>
        </p:nvPicPr>
        <p:blipFill>
          <a:blip r:embed="rId4"/>
          <a:stretch>
            <a:fillRect/>
          </a:stretch>
        </p:blipFill>
        <p:spPr>
          <a:xfrm>
            <a:off x="10193592" y="3235216"/>
            <a:ext cx="451143" cy="445047"/>
          </a:xfrm>
          <a:prstGeom prst="rect">
            <a:avLst/>
          </a:prstGeom>
        </p:spPr>
      </p:pic>
      <p:pic>
        <p:nvPicPr>
          <p:cNvPr id="18" name="Imagen 17"/>
          <p:cNvPicPr>
            <a:picLocks noChangeAspect="1"/>
          </p:cNvPicPr>
          <p:nvPr/>
        </p:nvPicPr>
        <p:blipFill>
          <a:blip r:embed="rId4"/>
          <a:stretch>
            <a:fillRect/>
          </a:stretch>
        </p:blipFill>
        <p:spPr>
          <a:xfrm>
            <a:off x="10576074" y="3109673"/>
            <a:ext cx="254524" cy="251085"/>
          </a:xfrm>
          <a:prstGeom prst="rect">
            <a:avLst/>
          </a:prstGeom>
        </p:spPr>
      </p:pic>
      <p:pic>
        <p:nvPicPr>
          <p:cNvPr id="19" name="Imagen 18"/>
          <p:cNvPicPr>
            <a:picLocks noChangeAspect="1"/>
          </p:cNvPicPr>
          <p:nvPr/>
        </p:nvPicPr>
        <p:blipFill>
          <a:blip r:embed="rId4"/>
          <a:stretch>
            <a:fillRect/>
          </a:stretch>
        </p:blipFill>
        <p:spPr>
          <a:xfrm>
            <a:off x="5405083" y="4143146"/>
            <a:ext cx="338479" cy="333905"/>
          </a:xfrm>
          <a:prstGeom prst="rect">
            <a:avLst/>
          </a:prstGeom>
        </p:spPr>
      </p:pic>
      <p:sp>
        <p:nvSpPr>
          <p:cNvPr id="8" name="CuadroTexto 7">
            <a:extLst>
              <a:ext uri="{FF2B5EF4-FFF2-40B4-BE49-F238E27FC236}">
                <a16:creationId xmlns:a16="http://schemas.microsoft.com/office/drawing/2014/main" id="{77BD74EE-333A-167F-C9E4-55926C37B262}"/>
              </a:ext>
            </a:extLst>
          </p:cNvPr>
          <p:cNvSpPr txBox="1"/>
          <p:nvPr/>
        </p:nvSpPr>
        <p:spPr>
          <a:xfrm>
            <a:off x="7022059" y="84265"/>
            <a:ext cx="5121723" cy="584775"/>
          </a:xfrm>
          <a:prstGeom prst="rect">
            <a:avLst/>
          </a:prstGeom>
          <a:noFill/>
          <a:effectLst>
            <a:glow rad="127000">
              <a:srgbClr val="C3C0E6"/>
            </a:glow>
            <a:outerShdw blurRad="50800" dist="50800" dir="5400000" algn="ctr" rotWithShape="0">
              <a:srgbClr val="C3C0E6"/>
            </a:outerShdw>
          </a:effectLst>
        </p:spPr>
        <p:txBody>
          <a:bodyPr wrap="none" rtlCol="0">
            <a:spAutoFit/>
          </a:bodyPr>
          <a:lstStyle/>
          <a:p>
            <a:pPr algn="r"/>
            <a:r>
              <a:rPr lang="es-CO" sz="1600" dirty="0">
                <a:effectLst>
                  <a:outerShdw blurRad="50800" dist="50800" dir="5400000" algn="ctr" rotWithShape="0">
                    <a:schemeClr val="bg1">
                      <a:lumMod val="75000"/>
                    </a:schemeClr>
                  </a:outerShdw>
                </a:effectLst>
              </a:rPr>
              <a:t>COLEGIO TÉCNICO DISTRITAL PAULO FREIRE IED</a:t>
            </a:r>
          </a:p>
          <a:p>
            <a:pPr algn="r"/>
            <a:r>
              <a:rPr lang="es-CO" sz="1600" dirty="0">
                <a:effectLst>
                  <a:outerShdw blurRad="50800" dist="50800" dir="5400000" algn="ctr" rotWithShape="0">
                    <a:schemeClr val="bg1">
                      <a:lumMod val="75000"/>
                    </a:schemeClr>
                  </a:outerShdw>
                </a:effectLst>
              </a:rPr>
              <a:t>SUSTENTACIÓN PROYECTO DE GRADO 2026</a:t>
            </a:r>
          </a:p>
        </p:txBody>
      </p:sp>
    </p:spTree>
    <p:extLst>
      <p:ext uri="{BB962C8B-B14F-4D97-AF65-F5344CB8AC3E}">
        <p14:creationId xmlns:p14="http://schemas.microsoft.com/office/powerpoint/2010/main" val="266310909"/>
      </p:ext>
    </p:extLst>
  </p:cSld>
  <p:clrMapOvr>
    <a:masterClrMapping/>
  </p:clrMapOvr>
  <mc:AlternateContent xmlns:mc="http://schemas.openxmlformats.org/markup-compatibility/2006" xmlns:p14="http://schemas.microsoft.com/office/powerpoint/2010/main">
    <mc:Choice Requires="p14">
      <p:transition p14:dur="10">
        <p14:glitter pattern="hexagon"/>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riángulo rectángulo 4">
            <a:extLst>
              <a:ext uri="{FF2B5EF4-FFF2-40B4-BE49-F238E27FC236}">
                <a16:creationId xmlns:a16="http://schemas.microsoft.com/office/drawing/2014/main" id="{AB14C2AB-5230-6532-874B-A1FD8B5CB85D}"/>
              </a:ext>
            </a:extLst>
          </p:cNvPr>
          <p:cNvSpPr/>
          <p:nvPr/>
        </p:nvSpPr>
        <p:spPr>
          <a:xfrm rot="16200000" flipH="1">
            <a:off x="5694170" y="-4060847"/>
            <a:ext cx="2350927" cy="10644736"/>
          </a:xfrm>
          <a:prstGeom prst="rtTriangle">
            <a:avLst/>
          </a:prstGeom>
          <a:gradFill>
            <a:gsLst>
              <a:gs pos="50000">
                <a:srgbClr val="8DBFFB"/>
              </a:gs>
              <a:gs pos="74000">
                <a:srgbClr val="D6E8FE"/>
              </a:gs>
              <a:gs pos="83000">
                <a:srgbClr val="D6E8FE"/>
              </a:gs>
              <a:gs pos="100000">
                <a:srgbClr val="D6E8FE"/>
              </a:gs>
            </a:gsLst>
            <a:lin ang="5400000" scaled="1"/>
          </a:gradFill>
          <a:ln>
            <a:noFill/>
          </a:ln>
          <a:effectLst>
            <a:glow rad="152400">
              <a:srgbClr val="C3C0E6">
                <a:alpha val="40000"/>
              </a:srgbClr>
            </a:glow>
            <a:outerShdw blurRad="50800" dist="50800" dir="5400000" algn="ctr" rotWithShape="0">
              <a:srgbClr val="8DBFFB"/>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Triángulo rectángulo 3">
            <a:extLst>
              <a:ext uri="{FF2B5EF4-FFF2-40B4-BE49-F238E27FC236}">
                <a16:creationId xmlns:a16="http://schemas.microsoft.com/office/drawing/2014/main" id="{3C597F25-92E5-1E6F-E68B-912BBCF50C04}"/>
              </a:ext>
            </a:extLst>
          </p:cNvPr>
          <p:cNvSpPr/>
          <p:nvPr/>
        </p:nvSpPr>
        <p:spPr>
          <a:xfrm rot="10800000" flipH="1">
            <a:off x="0" y="86384"/>
            <a:ext cx="2350927" cy="6742712"/>
          </a:xfrm>
          <a:prstGeom prst="rtTriangle">
            <a:avLst/>
          </a:prstGeom>
          <a:gradFill>
            <a:gsLst>
              <a:gs pos="50000">
                <a:srgbClr val="8DBFFB"/>
              </a:gs>
              <a:gs pos="74000">
                <a:srgbClr val="D6E8FE"/>
              </a:gs>
              <a:gs pos="83000">
                <a:srgbClr val="D6E8FE"/>
              </a:gs>
              <a:gs pos="100000">
                <a:srgbClr val="D6E8FE"/>
              </a:gs>
            </a:gsLst>
            <a:lin ang="5400000" scaled="1"/>
          </a:gradFill>
          <a:ln>
            <a:noFill/>
          </a:ln>
          <a:effectLst>
            <a:glow rad="152400">
              <a:srgbClr val="C3C0E6">
                <a:alpha val="40000"/>
              </a:srgbClr>
            </a:glow>
            <a:outerShdw blurRad="50800" dist="50800" dir="5400000" algn="ctr" rotWithShape="0">
              <a:srgbClr val="8DBFFB"/>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8" name="Título 1">
            <a:extLst>
              <a:ext uri="{FF2B5EF4-FFF2-40B4-BE49-F238E27FC236}">
                <a16:creationId xmlns:a16="http://schemas.microsoft.com/office/drawing/2014/main" id="{3B7DF75B-69D1-9C0C-4787-5A413E9FAFC6}"/>
              </a:ext>
            </a:extLst>
          </p:cNvPr>
          <p:cNvSpPr>
            <a:spLocks noGrp="1"/>
          </p:cNvSpPr>
          <p:nvPr>
            <p:ph type="title"/>
          </p:nvPr>
        </p:nvSpPr>
        <p:spPr>
          <a:xfrm>
            <a:off x="312358" y="616440"/>
            <a:ext cx="10699098" cy="681728"/>
          </a:xfrm>
        </p:spPr>
        <p:txBody>
          <a:bodyPr>
            <a:noAutofit/>
          </a:bodyPr>
          <a:lstStyle/>
          <a:p>
            <a:pPr algn="ctr"/>
            <a:r>
              <a:rPr lang="es-CO" sz="5400" b="1" dirty="0">
                <a:latin typeface="Times New Roman" panose="02020603050405020304" pitchFamily="18" charset="0"/>
                <a:cs typeface="Times New Roman" panose="02020603050405020304" pitchFamily="18" charset="0"/>
              </a:rPr>
              <a:t>Metodología</a:t>
            </a:r>
          </a:p>
        </p:txBody>
      </p:sp>
      <p:pic>
        <p:nvPicPr>
          <p:cNvPr id="10" name="Imagen 9" descr="Logotipo&#10;&#10;Descripción generada automáticamente">
            <a:extLst>
              <a:ext uri="{FF2B5EF4-FFF2-40B4-BE49-F238E27FC236}">
                <a16:creationId xmlns:a16="http://schemas.microsoft.com/office/drawing/2014/main" id="{E4D4B5A3-8574-A824-781F-F30C424668E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45" y="47134"/>
            <a:ext cx="1651907" cy="1520890"/>
          </a:xfrm>
          <a:prstGeom prst="rect">
            <a:avLst/>
          </a:prstGeom>
        </p:spPr>
      </p:pic>
      <p:pic>
        <p:nvPicPr>
          <p:cNvPr id="2" name="Imagen 1"/>
          <p:cNvPicPr>
            <a:picLocks noChangeAspect="1"/>
          </p:cNvPicPr>
          <p:nvPr/>
        </p:nvPicPr>
        <p:blipFill>
          <a:blip r:embed="rId3"/>
          <a:stretch>
            <a:fillRect/>
          </a:stretch>
        </p:blipFill>
        <p:spPr>
          <a:xfrm>
            <a:off x="2715630" y="631615"/>
            <a:ext cx="392258" cy="386958"/>
          </a:xfrm>
          <a:prstGeom prst="rect">
            <a:avLst/>
          </a:prstGeom>
        </p:spPr>
      </p:pic>
      <p:pic>
        <p:nvPicPr>
          <p:cNvPr id="3" name="Imagen 2"/>
          <p:cNvPicPr>
            <a:picLocks noChangeAspect="1"/>
          </p:cNvPicPr>
          <p:nvPr/>
        </p:nvPicPr>
        <p:blipFill>
          <a:blip r:embed="rId3"/>
          <a:stretch>
            <a:fillRect/>
          </a:stretch>
        </p:blipFill>
        <p:spPr>
          <a:xfrm>
            <a:off x="3019289" y="415662"/>
            <a:ext cx="281400" cy="277598"/>
          </a:xfrm>
          <a:prstGeom prst="rect">
            <a:avLst/>
          </a:prstGeom>
        </p:spPr>
      </p:pic>
      <p:pic>
        <p:nvPicPr>
          <p:cNvPr id="6" name="Imagen 5"/>
          <p:cNvPicPr>
            <a:picLocks noChangeAspect="1"/>
          </p:cNvPicPr>
          <p:nvPr/>
        </p:nvPicPr>
        <p:blipFill>
          <a:blip r:embed="rId3"/>
          <a:stretch>
            <a:fillRect/>
          </a:stretch>
        </p:blipFill>
        <p:spPr>
          <a:xfrm>
            <a:off x="3159989" y="841701"/>
            <a:ext cx="234372" cy="231205"/>
          </a:xfrm>
          <a:prstGeom prst="rect">
            <a:avLst/>
          </a:prstGeom>
        </p:spPr>
      </p:pic>
      <p:pic>
        <p:nvPicPr>
          <p:cNvPr id="7" name="Imagen 6"/>
          <p:cNvPicPr>
            <a:picLocks noChangeAspect="1"/>
          </p:cNvPicPr>
          <p:nvPr/>
        </p:nvPicPr>
        <p:blipFill>
          <a:blip r:embed="rId3"/>
          <a:stretch>
            <a:fillRect/>
          </a:stretch>
        </p:blipFill>
        <p:spPr>
          <a:xfrm>
            <a:off x="5210763" y="1904343"/>
            <a:ext cx="334085" cy="329571"/>
          </a:xfrm>
          <a:prstGeom prst="rect">
            <a:avLst/>
          </a:prstGeom>
        </p:spPr>
      </p:pic>
      <p:pic>
        <p:nvPicPr>
          <p:cNvPr id="12" name="Imagen 11"/>
          <p:cNvPicPr>
            <a:picLocks noChangeAspect="1"/>
          </p:cNvPicPr>
          <p:nvPr/>
        </p:nvPicPr>
        <p:blipFill>
          <a:blip r:embed="rId3"/>
          <a:stretch>
            <a:fillRect/>
          </a:stretch>
        </p:blipFill>
        <p:spPr>
          <a:xfrm>
            <a:off x="5427196" y="2232263"/>
            <a:ext cx="310453" cy="306258"/>
          </a:xfrm>
          <a:prstGeom prst="rect">
            <a:avLst/>
          </a:prstGeom>
        </p:spPr>
      </p:pic>
      <p:pic>
        <p:nvPicPr>
          <p:cNvPr id="13" name="Imagen 12"/>
          <p:cNvPicPr>
            <a:picLocks noChangeAspect="1"/>
          </p:cNvPicPr>
          <p:nvPr/>
        </p:nvPicPr>
        <p:blipFill>
          <a:blip r:embed="rId3"/>
          <a:stretch>
            <a:fillRect/>
          </a:stretch>
        </p:blipFill>
        <p:spPr>
          <a:xfrm>
            <a:off x="5544848" y="1791333"/>
            <a:ext cx="451143" cy="445047"/>
          </a:xfrm>
          <a:prstGeom prst="rect">
            <a:avLst/>
          </a:prstGeom>
        </p:spPr>
      </p:pic>
      <p:pic>
        <p:nvPicPr>
          <p:cNvPr id="14" name="Imagen 13"/>
          <p:cNvPicPr>
            <a:picLocks noChangeAspect="1"/>
          </p:cNvPicPr>
          <p:nvPr/>
        </p:nvPicPr>
        <p:blipFill>
          <a:blip r:embed="rId3"/>
          <a:stretch>
            <a:fillRect/>
          </a:stretch>
        </p:blipFill>
        <p:spPr>
          <a:xfrm>
            <a:off x="10164635" y="3738912"/>
            <a:ext cx="339971" cy="335377"/>
          </a:xfrm>
          <a:prstGeom prst="rect">
            <a:avLst/>
          </a:prstGeom>
        </p:spPr>
      </p:pic>
      <p:pic>
        <p:nvPicPr>
          <p:cNvPr id="15" name="Imagen 14"/>
          <p:cNvPicPr>
            <a:picLocks noChangeAspect="1"/>
          </p:cNvPicPr>
          <p:nvPr/>
        </p:nvPicPr>
        <p:blipFill>
          <a:blip r:embed="rId3"/>
          <a:stretch>
            <a:fillRect/>
          </a:stretch>
        </p:blipFill>
        <p:spPr>
          <a:xfrm>
            <a:off x="10471155" y="4098870"/>
            <a:ext cx="308164" cy="304000"/>
          </a:xfrm>
          <a:prstGeom prst="rect">
            <a:avLst/>
          </a:prstGeom>
        </p:spPr>
      </p:pic>
      <p:pic>
        <p:nvPicPr>
          <p:cNvPr id="16" name="Imagen 15"/>
          <p:cNvPicPr>
            <a:picLocks noChangeAspect="1"/>
          </p:cNvPicPr>
          <p:nvPr/>
        </p:nvPicPr>
        <p:blipFill>
          <a:blip r:embed="rId3"/>
          <a:stretch>
            <a:fillRect/>
          </a:stretch>
        </p:blipFill>
        <p:spPr>
          <a:xfrm>
            <a:off x="10545810" y="3674471"/>
            <a:ext cx="393462" cy="388145"/>
          </a:xfrm>
          <a:prstGeom prst="rect">
            <a:avLst/>
          </a:prstGeom>
        </p:spPr>
      </p:pic>
      <p:pic>
        <p:nvPicPr>
          <p:cNvPr id="17" name="Imagen 16"/>
          <p:cNvPicPr>
            <a:picLocks noChangeAspect="1"/>
          </p:cNvPicPr>
          <p:nvPr/>
        </p:nvPicPr>
        <p:blipFill>
          <a:blip r:embed="rId3"/>
          <a:stretch>
            <a:fillRect/>
          </a:stretch>
        </p:blipFill>
        <p:spPr>
          <a:xfrm>
            <a:off x="10785884" y="1504085"/>
            <a:ext cx="328580" cy="324140"/>
          </a:xfrm>
          <a:prstGeom prst="rect">
            <a:avLst/>
          </a:prstGeom>
        </p:spPr>
      </p:pic>
      <p:pic>
        <p:nvPicPr>
          <p:cNvPr id="18" name="Imagen 17"/>
          <p:cNvPicPr>
            <a:picLocks noChangeAspect="1"/>
          </p:cNvPicPr>
          <p:nvPr/>
        </p:nvPicPr>
        <p:blipFill>
          <a:blip r:embed="rId3"/>
          <a:stretch>
            <a:fillRect/>
          </a:stretch>
        </p:blipFill>
        <p:spPr>
          <a:xfrm>
            <a:off x="10625237" y="1318731"/>
            <a:ext cx="282181" cy="278368"/>
          </a:xfrm>
          <a:prstGeom prst="rect">
            <a:avLst/>
          </a:prstGeom>
        </p:spPr>
      </p:pic>
      <p:pic>
        <p:nvPicPr>
          <p:cNvPr id="19" name="Imagen 18"/>
          <p:cNvPicPr>
            <a:picLocks noChangeAspect="1"/>
          </p:cNvPicPr>
          <p:nvPr/>
        </p:nvPicPr>
        <p:blipFill>
          <a:blip r:embed="rId3"/>
          <a:stretch>
            <a:fillRect/>
          </a:stretch>
        </p:blipFill>
        <p:spPr>
          <a:xfrm>
            <a:off x="1159178" y="5776057"/>
            <a:ext cx="404573" cy="399106"/>
          </a:xfrm>
          <a:prstGeom prst="rect">
            <a:avLst/>
          </a:prstGeom>
        </p:spPr>
      </p:pic>
      <p:pic>
        <p:nvPicPr>
          <p:cNvPr id="20" name="Imagen 19"/>
          <p:cNvPicPr>
            <a:picLocks noChangeAspect="1"/>
          </p:cNvPicPr>
          <p:nvPr/>
        </p:nvPicPr>
        <p:blipFill>
          <a:blip r:embed="rId3"/>
          <a:stretch>
            <a:fillRect/>
          </a:stretch>
        </p:blipFill>
        <p:spPr>
          <a:xfrm>
            <a:off x="1031413" y="5659024"/>
            <a:ext cx="197484" cy="194816"/>
          </a:xfrm>
          <a:prstGeom prst="rect">
            <a:avLst/>
          </a:prstGeom>
        </p:spPr>
      </p:pic>
      <p:pic>
        <p:nvPicPr>
          <p:cNvPr id="22" name="Imagen 21"/>
          <p:cNvPicPr>
            <a:picLocks noChangeAspect="1"/>
          </p:cNvPicPr>
          <p:nvPr/>
        </p:nvPicPr>
        <p:blipFill>
          <a:blip r:embed="rId4"/>
          <a:stretch>
            <a:fillRect/>
          </a:stretch>
        </p:blipFill>
        <p:spPr>
          <a:xfrm>
            <a:off x="98726" y="1768802"/>
            <a:ext cx="1164437" cy="1164437"/>
          </a:xfrm>
          <a:prstGeom prst="rect">
            <a:avLst/>
          </a:prstGeom>
        </p:spPr>
      </p:pic>
      <p:pic>
        <p:nvPicPr>
          <p:cNvPr id="23" name="Imagen 22"/>
          <p:cNvPicPr>
            <a:picLocks noChangeAspect="1"/>
          </p:cNvPicPr>
          <p:nvPr/>
        </p:nvPicPr>
        <p:blipFill>
          <a:blip r:embed="rId4"/>
          <a:stretch>
            <a:fillRect/>
          </a:stretch>
        </p:blipFill>
        <p:spPr>
          <a:xfrm>
            <a:off x="10950174" y="5076805"/>
            <a:ext cx="1164437" cy="1164437"/>
          </a:xfrm>
          <a:prstGeom prst="rect">
            <a:avLst/>
          </a:prstGeom>
        </p:spPr>
      </p:pic>
      <p:pic>
        <p:nvPicPr>
          <p:cNvPr id="24" name="Imagen 23"/>
          <p:cNvPicPr>
            <a:picLocks noChangeAspect="1"/>
          </p:cNvPicPr>
          <p:nvPr/>
        </p:nvPicPr>
        <p:blipFill>
          <a:blip r:embed="rId4"/>
          <a:stretch>
            <a:fillRect/>
          </a:stretch>
        </p:blipFill>
        <p:spPr>
          <a:xfrm>
            <a:off x="146225" y="3957687"/>
            <a:ext cx="1164437" cy="1164437"/>
          </a:xfrm>
          <a:prstGeom prst="rect">
            <a:avLst/>
          </a:prstGeom>
        </p:spPr>
      </p:pic>
      <p:pic>
        <p:nvPicPr>
          <p:cNvPr id="25" name="Imagen 24"/>
          <p:cNvPicPr>
            <a:picLocks noChangeAspect="1"/>
          </p:cNvPicPr>
          <p:nvPr/>
        </p:nvPicPr>
        <p:blipFill>
          <a:blip r:embed="rId4"/>
          <a:stretch>
            <a:fillRect/>
          </a:stretch>
        </p:blipFill>
        <p:spPr>
          <a:xfrm>
            <a:off x="10755284" y="1943060"/>
            <a:ext cx="1164437" cy="1164437"/>
          </a:xfrm>
          <a:prstGeom prst="rect">
            <a:avLst/>
          </a:prstGeom>
        </p:spPr>
      </p:pic>
      <p:pic>
        <p:nvPicPr>
          <p:cNvPr id="26" name="Imagen 2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89544" y="1353047"/>
            <a:ext cx="8733886" cy="5523024"/>
          </a:xfrm>
          <a:prstGeom prst="rect">
            <a:avLst/>
          </a:prstGeom>
        </p:spPr>
      </p:pic>
      <p:sp>
        <p:nvSpPr>
          <p:cNvPr id="21" name="CuadroTexto 20">
            <a:extLst>
              <a:ext uri="{FF2B5EF4-FFF2-40B4-BE49-F238E27FC236}">
                <a16:creationId xmlns:a16="http://schemas.microsoft.com/office/drawing/2014/main" id="{4AB8B66C-6269-AD2B-45E6-E1A162CDCB68}"/>
              </a:ext>
            </a:extLst>
          </p:cNvPr>
          <p:cNvSpPr txBox="1"/>
          <p:nvPr/>
        </p:nvSpPr>
        <p:spPr>
          <a:xfrm>
            <a:off x="7022059" y="84265"/>
            <a:ext cx="5121723" cy="584775"/>
          </a:xfrm>
          <a:prstGeom prst="rect">
            <a:avLst/>
          </a:prstGeom>
          <a:noFill/>
          <a:effectLst>
            <a:glow rad="127000">
              <a:srgbClr val="C3C0E6"/>
            </a:glow>
            <a:outerShdw blurRad="50800" dist="50800" dir="5400000" algn="ctr" rotWithShape="0">
              <a:srgbClr val="C3C0E6"/>
            </a:outerShdw>
          </a:effectLst>
        </p:spPr>
        <p:txBody>
          <a:bodyPr wrap="none" rtlCol="0">
            <a:spAutoFit/>
          </a:bodyPr>
          <a:lstStyle/>
          <a:p>
            <a:pPr algn="r"/>
            <a:r>
              <a:rPr lang="es-CO" sz="1600" dirty="0">
                <a:effectLst>
                  <a:outerShdw blurRad="50800" dist="50800" dir="5400000" algn="ctr" rotWithShape="0">
                    <a:schemeClr val="bg1">
                      <a:lumMod val="75000"/>
                    </a:schemeClr>
                  </a:outerShdw>
                </a:effectLst>
              </a:rPr>
              <a:t>COLEGIO TÉCNICO DISTRITAL PAULO FREIRE IED</a:t>
            </a:r>
          </a:p>
          <a:p>
            <a:pPr algn="r"/>
            <a:r>
              <a:rPr lang="es-CO" sz="1600" dirty="0">
                <a:effectLst>
                  <a:outerShdw blurRad="50800" dist="50800" dir="5400000" algn="ctr" rotWithShape="0">
                    <a:schemeClr val="bg1">
                      <a:lumMod val="75000"/>
                    </a:schemeClr>
                  </a:outerShdw>
                </a:effectLst>
              </a:rPr>
              <a:t>SUSTENTACIÓN PROYECTO DE GRADO 2026</a:t>
            </a:r>
          </a:p>
        </p:txBody>
      </p:sp>
    </p:spTree>
    <p:extLst>
      <p:ext uri="{BB962C8B-B14F-4D97-AF65-F5344CB8AC3E}">
        <p14:creationId xmlns:p14="http://schemas.microsoft.com/office/powerpoint/2010/main" val="618602067"/>
      </p:ext>
    </p:extLst>
  </p:cSld>
  <p:clrMapOvr>
    <a:masterClrMapping/>
  </p:clrMapOvr>
  <mc:AlternateContent xmlns:mc="http://schemas.openxmlformats.org/markup-compatibility/2006" xmlns:p14="http://schemas.microsoft.com/office/powerpoint/2010/main">
    <mc:Choice Requires="p14">
      <p:transition p14:dur="10">
        <p14:glitter pattern="hexagon"/>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riángulo rectángulo 4">
            <a:extLst>
              <a:ext uri="{FF2B5EF4-FFF2-40B4-BE49-F238E27FC236}">
                <a16:creationId xmlns:a16="http://schemas.microsoft.com/office/drawing/2014/main" id="{AB14C2AB-5230-6532-874B-A1FD8B5CB85D}"/>
              </a:ext>
            </a:extLst>
          </p:cNvPr>
          <p:cNvSpPr/>
          <p:nvPr/>
        </p:nvSpPr>
        <p:spPr>
          <a:xfrm rot="16200000" flipH="1">
            <a:off x="5694170" y="-4060847"/>
            <a:ext cx="2350927" cy="10644736"/>
          </a:xfrm>
          <a:prstGeom prst="rtTriangle">
            <a:avLst/>
          </a:prstGeom>
          <a:gradFill>
            <a:gsLst>
              <a:gs pos="50000">
                <a:srgbClr val="8DBFFB"/>
              </a:gs>
              <a:gs pos="74000">
                <a:srgbClr val="D6E8FE"/>
              </a:gs>
              <a:gs pos="83000">
                <a:srgbClr val="D6E8FE"/>
              </a:gs>
              <a:gs pos="100000">
                <a:srgbClr val="D6E8FE"/>
              </a:gs>
            </a:gsLst>
            <a:lin ang="5400000" scaled="1"/>
          </a:gradFill>
          <a:ln>
            <a:noFill/>
          </a:ln>
          <a:effectLst>
            <a:glow rad="152400">
              <a:srgbClr val="C3C0E6">
                <a:alpha val="40000"/>
              </a:srgbClr>
            </a:glow>
            <a:outerShdw blurRad="50800" dist="50800" dir="5400000" algn="ctr" rotWithShape="0">
              <a:srgbClr val="8DBFFB"/>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Triángulo rectángulo 3">
            <a:extLst>
              <a:ext uri="{FF2B5EF4-FFF2-40B4-BE49-F238E27FC236}">
                <a16:creationId xmlns:a16="http://schemas.microsoft.com/office/drawing/2014/main" id="{3C597F25-92E5-1E6F-E68B-912BBCF50C04}"/>
              </a:ext>
            </a:extLst>
          </p:cNvPr>
          <p:cNvSpPr/>
          <p:nvPr/>
        </p:nvSpPr>
        <p:spPr>
          <a:xfrm rot="10800000" flipH="1">
            <a:off x="0" y="86384"/>
            <a:ext cx="2350927" cy="6742712"/>
          </a:xfrm>
          <a:prstGeom prst="rtTriangle">
            <a:avLst/>
          </a:prstGeom>
          <a:gradFill>
            <a:gsLst>
              <a:gs pos="50000">
                <a:srgbClr val="8DBFFB"/>
              </a:gs>
              <a:gs pos="74000">
                <a:srgbClr val="D6E8FE"/>
              </a:gs>
              <a:gs pos="83000">
                <a:srgbClr val="D6E8FE"/>
              </a:gs>
              <a:gs pos="100000">
                <a:srgbClr val="D6E8FE"/>
              </a:gs>
            </a:gsLst>
            <a:lin ang="5400000" scaled="1"/>
          </a:gradFill>
          <a:ln>
            <a:noFill/>
          </a:ln>
          <a:effectLst>
            <a:glow rad="152400">
              <a:srgbClr val="C3C0E6">
                <a:alpha val="40000"/>
              </a:srgbClr>
            </a:glow>
            <a:outerShdw blurRad="50800" dist="50800" dir="5400000" algn="ctr" rotWithShape="0">
              <a:srgbClr val="8DBFFB"/>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pic>
        <p:nvPicPr>
          <p:cNvPr id="6" name="Marcador de contenido 5">
            <a:extLst>
              <a:ext uri="{FF2B5EF4-FFF2-40B4-BE49-F238E27FC236}">
                <a16:creationId xmlns:a16="http://schemas.microsoft.com/office/drawing/2014/main" id="{428B6306-72CC-AFD7-BB3C-CAED56AE3F9B}"/>
              </a:ext>
            </a:extLst>
          </p:cNvPr>
          <p:cNvPicPr>
            <a:picLocks noGrp="1" noChangeAspect="1"/>
          </p:cNvPicPr>
          <p:nvPr>
            <p:ph idx="1"/>
          </p:nvPr>
        </p:nvPicPr>
        <p:blipFill>
          <a:blip r:embed="rId2"/>
          <a:srcRect b="1720"/>
          <a:stretch/>
        </p:blipFill>
        <p:spPr>
          <a:xfrm>
            <a:off x="2217705" y="708050"/>
            <a:ext cx="7303476" cy="6149950"/>
          </a:xfrm>
        </p:spPr>
      </p:pic>
      <p:sp>
        <p:nvSpPr>
          <p:cNvPr id="9" name="CuadroTexto 8">
            <a:extLst>
              <a:ext uri="{FF2B5EF4-FFF2-40B4-BE49-F238E27FC236}">
                <a16:creationId xmlns:a16="http://schemas.microsoft.com/office/drawing/2014/main" id="{43F2B1BC-599E-A086-36B0-0A59F631DD8A}"/>
              </a:ext>
            </a:extLst>
          </p:cNvPr>
          <p:cNvSpPr txBox="1"/>
          <p:nvPr/>
        </p:nvSpPr>
        <p:spPr>
          <a:xfrm>
            <a:off x="6960320" y="123275"/>
            <a:ext cx="5121723" cy="584775"/>
          </a:xfrm>
          <a:prstGeom prst="rect">
            <a:avLst/>
          </a:prstGeom>
          <a:noFill/>
          <a:effectLst>
            <a:glow rad="127000">
              <a:srgbClr val="C3C0E6"/>
            </a:glow>
            <a:outerShdw blurRad="50800" dist="50800" dir="5400000" algn="ctr" rotWithShape="0">
              <a:srgbClr val="C3C0E6"/>
            </a:outerShdw>
          </a:effectLst>
        </p:spPr>
        <p:txBody>
          <a:bodyPr wrap="none" rtlCol="0">
            <a:spAutoFit/>
          </a:bodyPr>
          <a:lstStyle/>
          <a:p>
            <a:pPr algn="r"/>
            <a:r>
              <a:rPr lang="es-CO" sz="1600" dirty="0">
                <a:effectLst>
                  <a:outerShdw blurRad="50800" dist="50800" dir="5400000" algn="ctr" rotWithShape="0">
                    <a:schemeClr val="bg1">
                      <a:lumMod val="75000"/>
                    </a:schemeClr>
                  </a:outerShdw>
                </a:effectLst>
              </a:rPr>
              <a:t>COLEGIO TÉCNICO DISTRITAL PAULO FREIRE IED</a:t>
            </a:r>
          </a:p>
          <a:p>
            <a:pPr algn="r"/>
            <a:r>
              <a:rPr lang="es-CO" sz="1600" dirty="0">
                <a:effectLst>
                  <a:outerShdw blurRad="50800" dist="50800" dir="5400000" algn="ctr" rotWithShape="0">
                    <a:schemeClr val="bg1">
                      <a:lumMod val="75000"/>
                    </a:schemeClr>
                  </a:outerShdw>
                </a:effectLst>
              </a:rPr>
              <a:t>SUSTENTACIÓN PROYECTO DE GRADO 2026</a:t>
            </a:r>
          </a:p>
        </p:txBody>
      </p:sp>
      <p:pic>
        <p:nvPicPr>
          <p:cNvPr id="10" name="Imagen 9" descr="Logotipo&#10;&#10;Descripción generada automáticamente">
            <a:extLst>
              <a:ext uri="{FF2B5EF4-FFF2-40B4-BE49-F238E27FC236}">
                <a16:creationId xmlns:a16="http://schemas.microsoft.com/office/drawing/2014/main" id="{E4D4B5A3-8574-A824-781F-F30C424668E8}"/>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9945" y="47134"/>
            <a:ext cx="1651907" cy="1520890"/>
          </a:xfrm>
          <a:prstGeom prst="rect">
            <a:avLst/>
          </a:prstGeom>
        </p:spPr>
      </p:pic>
    </p:spTree>
    <p:extLst>
      <p:ext uri="{BB962C8B-B14F-4D97-AF65-F5344CB8AC3E}">
        <p14:creationId xmlns:p14="http://schemas.microsoft.com/office/powerpoint/2010/main" val="3244329310"/>
      </p:ext>
    </p:extLst>
  </p:cSld>
  <p:clrMapOvr>
    <a:masterClrMapping/>
  </p:clrMapOvr>
  <mc:AlternateContent xmlns:mc="http://schemas.openxmlformats.org/markup-compatibility/2006" xmlns:p14="http://schemas.microsoft.com/office/powerpoint/2010/main">
    <mc:Choice Requires="p14">
      <p:transition p14:dur="10">
        <p14:glitter pattern="hexagon"/>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riángulo rectángulo 4">
            <a:extLst>
              <a:ext uri="{FF2B5EF4-FFF2-40B4-BE49-F238E27FC236}">
                <a16:creationId xmlns:a16="http://schemas.microsoft.com/office/drawing/2014/main" id="{AB14C2AB-5230-6532-874B-A1FD8B5CB85D}"/>
              </a:ext>
            </a:extLst>
          </p:cNvPr>
          <p:cNvSpPr/>
          <p:nvPr/>
        </p:nvSpPr>
        <p:spPr>
          <a:xfrm rot="16200000" flipH="1">
            <a:off x="5694168" y="-4060520"/>
            <a:ext cx="2350927" cy="10644736"/>
          </a:xfrm>
          <a:prstGeom prst="rtTriangle">
            <a:avLst/>
          </a:prstGeom>
          <a:gradFill>
            <a:gsLst>
              <a:gs pos="50000">
                <a:srgbClr val="8DBFFB"/>
              </a:gs>
              <a:gs pos="74000">
                <a:srgbClr val="D6E8FE"/>
              </a:gs>
              <a:gs pos="83000">
                <a:srgbClr val="D6E8FE"/>
              </a:gs>
              <a:gs pos="100000">
                <a:srgbClr val="D6E8FE"/>
              </a:gs>
            </a:gsLst>
            <a:lin ang="5400000" scaled="1"/>
          </a:gradFill>
          <a:ln>
            <a:noFill/>
          </a:ln>
          <a:effectLst>
            <a:glow rad="152400">
              <a:srgbClr val="C3C0E6">
                <a:alpha val="40000"/>
              </a:srgbClr>
            </a:glow>
            <a:outerShdw blurRad="50800" dist="50800" dir="5400000" algn="ctr" rotWithShape="0">
              <a:srgbClr val="8DBFFB"/>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Triángulo rectángulo 3">
            <a:extLst>
              <a:ext uri="{FF2B5EF4-FFF2-40B4-BE49-F238E27FC236}">
                <a16:creationId xmlns:a16="http://schemas.microsoft.com/office/drawing/2014/main" id="{3C597F25-92E5-1E6F-E68B-912BBCF50C04}"/>
              </a:ext>
            </a:extLst>
          </p:cNvPr>
          <p:cNvSpPr/>
          <p:nvPr/>
        </p:nvSpPr>
        <p:spPr>
          <a:xfrm rot="10800000" flipH="1">
            <a:off x="0" y="86384"/>
            <a:ext cx="2350927" cy="6742712"/>
          </a:xfrm>
          <a:prstGeom prst="rtTriangle">
            <a:avLst/>
          </a:prstGeom>
          <a:gradFill>
            <a:gsLst>
              <a:gs pos="50000">
                <a:srgbClr val="8DBFFB"/>
              </a:gs>
              <a:gs pos="74000">
                <a:srgbClr val="D6E8FE"/>
              </a:gs>
              <a:gs pos="83000">
                <a:srgbClr val="D6E8FE"/>
              </a:gs>
              <a:gs pos="100000">
                <a:srgbClr val="D6E8FE"/>
              </a:gs>
            </a:gsLst>
            <a:lin ang="5400000" scaled="1"/>
          </a:gradFill>
          <a:ln>
            <a:noFill/>
          </a:ln>
          <a:effectLst>
            <a:glow rad="152400">
              <a:srgbClr val="C3C0E6">
                <a:alpha val="40000"/>
              </a:srgbClr>
            </a:glow>
            <a:outerShdw blurRad="50800" dist="50800" dir="5400000" algn="ctr" rotWithShape="0">
              <a:srgbClr val="8DBFFB"/>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9" name="CuadroTexto 8">
            <a:extLst>
              <a:ext uri="{FF2B5EF4-FFF2-40B4-BE49-F238E27FC236}">
                <a16:creationId xmlns:a16="http://schemas.microsoft.com/office/drawing/2014/main" id="{43F2B1BC-599E-A086-36B0-0A59F631DD8A}"/>
              </a:ext>
            </a:extLst>
          </p:cNvPr>
          <p:cNvSpPr txBox="1"/>
          <p:nvPr/>
        </p:nvSpPr>
        <p:spPr>
          <a:xfrm>
            <a:off x="6960320" y="123275"/>
            <a:ext cx="5121723" cy="584775"/>
          </a:xfrm>
          <a:prstGeom prst="rect">
            <a:avLst/>
          </a:prstGeom>
          <a:noFill/>
          <a:effectLst>
            <a:glow rad="127000">
              <a:srgbClr val="C3C0E6"/>
            </a:glow>
            <a:outerShdw blurRad="50800" dist="50800" dir="5400000" algn="ctr" rotWithShape="0">
              <a:srgbClr val="C3C0E6"/>
            </a:outerShdw>
          </a:effectLst>
        </p:spPr>
        <p:txBody>
          <a:bodyPr wrap="none" rtlCol="0">
            <a:spAutoFit/>
          </a:bodyPr>
          <a:lstStyle/>
          <a:p>
            <a:pPr algn="r"/>
            <a:r>
              <a:rPr lang="es-CO" sz="1600" dirty="0">
                <a:effectLst>
                  <a:outerShdw blurRad="50800" dist="50800" dir="5400000" algn="ctr" rotWithShape="0">
                    <a:schemeClr val="bg1">
                      <a:lumMod val="75000"/>
                    </a:schemeClr>
                  </a:outerShdw>
                </a:effectLst>
              </a:rPr>
              <a:t>COLEGIO TÉCNICO DISTRITAL PAULO FREIRE IED</a:t>
            </a:r>
          </a:p>
          <a:p>
            <a:pPr algn="r"/>
            <a:r>
              <a:rPr lang="es-CO" sz="1600" dirty="0">
                <a:effectLst>
                  <a:outerShdw blurRad="50800" dist="50800" dir="5400000" algn="ctr" rotWithShape="0">
                    <a:schemeClr val="bg1">
                      <a:lumMod val="75000"/>
                    </a:schemeClr>
                  </a:outerShdw>
                </a:effectLst>
              </a:rPr>
              <a:t>SUSTENTACIÓN PROYECTO DE GRADO 2025</a:t>
            </a:r>
          </a:p>
        </p:txBody>
      </p:sp>
      <p:pic>
        <p:nvPicPr>
          <p:cNvPr id="10" name="Imagen 9" descr="Logotipo&#10;&#10;Descripción generada automáticamente">
            <a:extLst>
              <a:ext uri="{FF2B5EF4-FFF2-40B4-BE49-F238E27FC236}">
                <a16:creationId xmlns:a16="http://schemas.microsoft.com/office/drawing/2014/main" id="{E4D4B5A3-8574-A824-781F-F30C424668E8}"/>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9945" y="47134"/>
            <a:ext cx="1651907" cy="1520890"/>
          </a:xfrm>
          <a:prstGeom prst="rect">
            <a:avLst/>
          </a:prstGeom>
        </p:spPr>
      </p:pic>
      <p:pic>
        <p:nvPicPr>
          <p:cNvPr id="12" name="Imagen 11">
            <a:extLst>
              <a:ext uri="{FF2B5EF4-FFF2-40B4-BE49-F238E27FC236}">
                <a16:creationId xmlns:a16="http://schemas.microsoft.com/office/drawing/2014/main" id="{03AD9083-A82F-76EB-561D-216B91E74B4D}"/>
              </a:ext>
            </a:extLst>
          </p:cNvPr>
          <p:cNvPicPr>
            <a:picLocks noChangeAspect="1"/>
          </p:cNvPicPr>
          <p:nvPr/>
        </p:nvPicPr>
        <p:blipFill>
          <a:blip r:embed="rId3"/>
          <a:stretch>
            <a:fillRect/>
          </a:stretch>
        </p:blipFill>
        <p:spPr>
          <a:xfrm>
            <a:off x="1547263" y="807579"/>
            <a:ext cx="8579806" cy="5719870"/>
          </a:xfrm>
          <a:prstGeom prst="rect">
            <a:avLst/>
          </a:prstGeom>
        </p:spPr>
      </p:pic>
    </p:spTree>
    <p:extLst>
      <p:ext uri="{BB962C8B-B14F-4D97-AF65-F5344CB8AC3E}">
        <p14:creationId xmlns:p14="http://schemas.microsoft.com/office/powerpoint/2010/main" val="4173015482"/>
      </p:ext>
    </p:extLst>
  </p:cSld>
  <p:clrMapOvr>
    <a:masterClrMapping/>
  </p:clrMapOvr>
  <mc:AlternateContent xmlns:mc="http://schemas.openxmlformats.org/markup-compatibility/2006" xmlns:p14="http://schemas.microsoft.com/office/powerpoint/2010/main">
    <mc:Choice Requires="p14">
      <p:transition p14:dur="10">
        <p14:glitter pattern="hexagon"/>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riángulo rectángulo 4">
            <a:extLst>
              <a:ext uri="{FF2B5EF4-FFF2-40B4-BE49-F238E27FC236}">
                <a16:creationId xmlns:a16="http://schemas.microsoft.com/office/drawing/2014/main" id="{AB14C2AB-5230-6532-874B-A1FD8B5CB85D}"/>
              </a:ext>
            </a:extLst>
          </p:cNvPr>
          <p:cNvSpPr/>
          <p:nvPr/>
        </p:nvSpPr>
        <p:spPr>
          <a:xfrm rot="16200000" flipH="1">
            <a:off x="5694170" y="-4060847"/>
            <a:ext cx="2350927" cy="10644736"/>
          </a:xfrm>
          <a:prstGeom prst="rtTriangle">
            <a:avLst/>
          </a:prstGeom>
          <a:gradFill>
            <a:gsLst>
              <a:gs pos="50000">
                <a:srgbClr val="8DBFFB"/>
              </a:gs>
              <a:gs pos="74000">
                <a:srgbClr val="D6E8FE"/>
              </a:gs>
              <a:gs pos="83000">
                <a:srgbClr val="D6E8FE"/>
              </a:gs>
              <a:gs pos="100000">
                <a:srgbClr val="D6E8FE"/>
              </a:gs>
            </a:gsLst>
            <a:lin ang="5400000" scaled="1"/>
          </a:gradFill>
          <a:ln>
            <a:noFill/>
          </a:ln>
          <a:effectLst>
            <a:glow rad="152400">
              <a:srgbClr val="C3C0E6">
                <a:alpha val="40000"/>
              </a:srgbClr>
            </a:glow>
            <a:outerShdw blurRad="50800" dist="50800" dir="5400000" algn="ctr" rotWithShape="0">
              <a:srgbClr val="8DBFFB"/>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Triángulo rectángulo 3">
            <a:extLst>
              <a:ext uri="{FF2B5EF4-FFF2-40B4-BE49-F238E27FC236}">
                <a16:creationId xmlns:a16="http://schemas.microsoft.com/office/drawing/2014/main" id="{3C597F25-92E5-1E6F-E68B-912BBCF50C04}"/>
              </a:ext>
            </a:extLst>
          </p:cNvPr>
          <p:cNvSpPr/>
          <p:nvPr/>
        </p:nvSpPr>
        <p:spPr>
          <a:xfrm rot="10800000" flipH="1">
            <a:off x="0" y="86384"/>
            <a:ext cx="2350927" cy="6742712"/>
          </a:xfrm>
          <a:prstGeom prst="rtTriangle">
            <a:avLst/>
          </a:prstGeom>
          <a:gradFill>
            <a:gsLst>
              <a:gs pos="50000">
                <a:srgbClr val="8DBFFB"/>
              </a:gs>
              <a:gs pos="74000">
                <a:srgbClr val="D6E8FE"/>
              </a:gs>
              <a:gs pos="83000">
                <a:srgbClr val="D6E8FE"/>
              </a:gs>
              <a:gs pos="100000">
                <a:srgbClr val="D6E8FE"/>
              </a:gs>
            </a:gsLst>
            <a:lin ang="5400000" scaled="1"/>
          </a:gradFill>
          <a:ln>
            <a:noFill/>
          </a:ln>
          <a:effectLst>
            <a:glow rad="152400">
              <a:srgbClr val="C3C0E6">
                <a:alpha val="40000"/>
              </a:srgbClr>
            </a:glow>
            <a:outerShdw blurRad="50800" dist="50800" dir="5400000" algn="ctr" rotWithShape="0">
              <a:srgbClr val="8DBFFB"/>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9" name="CuadroTexto 8">
            <a:extLst>
              <a:ext uri="{FF2B5EF4-FFF2-40B4-BE49-F238E27FC236}">
                <a16:creationId xmlns:a16="http://schemas.microsoft.com/office/drawing/2014/main" id="{43F2B1BC-599E-A086-36B0-0A59F631DD8A}"/>
              </a:ext>
            </a:extLst>
          </p:cNvPr>
          <p:cNvSpPr txBox="1"/>
          <p:nvPr/>
        </p:nvSpPr>
        <p:spPr>
          <a:xfrm>
            <a:off x="6960320" y="123275"/>
            <a:ext cx="5121723" cy="584775"/>
          </a:xfrm>
          <a:prstGeom prst="rect">
            <a:avLst/>
          </a:prstGeom>
          <a:noFill/>
          <a:effectLst>
            <a:glow rad="127000">
              <a:srgbClr val="C3C0E6"/>
            </a:glow>
            <a:outerShdw blurRad="50800" dist="50800" dir="5400000" algn="ctr" rotWithShape="0">
              <a:srgbClr val="C3C0E6"/>
            </a:outerShdw>
          </a:effectLst>
        </p:spPr>
        <p:txBody>
          <a:bodyPr wrap="none" rtlCol="0">
            <a:spAutoFit/>
          </a:bodyPr>
          <a:lstStyle/>
          <a:p>
            <a:pPr algn="r"/>
            <a:r>
              <a:rPr lang="es-CO" sz="1600" dirty="0">
                <a:effectLst>
                  <a:outerShdw blurRad="50800" dist="50800" dir="5400000" algn="ctr" rotWithShape="0">
                    <a:schemeClr val="bg1">
                      <a:lumMod val="75000"/>
                    </a:schemeClr>
                  </a:outerShdw>
                </a:effectLst>
              </a:rPr>
              <a:t>COLEGIO TÉCNICO DISTRITAL PAULO FREIRE IED</a:t>
            </a:r>
          </a:p>
          <a:p>
            <a:pPr algn="r"/>
            <a:r>
              <a:rPr lang="es-CO" sz="1600" dirty="0">
                <a:effectLst>
                  <a:outerShdw blurRad="50800" dist="50800" dir="5400000" algn="ctr" rotWithShape="0">
                    <a:schemeClr val="bg1">
                      <a:lumMod val="75000"/>
                    </a:schemeClr>
                  </a:outerShdw>
                </a:effectLst>
              </a:rPr>
              <a:t>SUSTENTACIÓN PROYECTO DE GRADO 2026</a:t>
            </a:r>
          </a:p>
        </p:txBody>
      </p:sp>
      <p:pic>
        <p:nvPicPr>
          <p:cNvPr id="10" name="Imagen 9" descr="Logotipo&#10;&#10;Descripción generada automáticamente">
            <a:extLst>
              <a:ext uri="{FF2B5EF4-FFF2-40B4-BE49-F238E27FC236}">
                <a16:creationId xmlns:a16="http://schemas.microsoft.com/office/drawing/2014/main" id="{E4D4B5A3-8574-A824-781F-F30C424668E8}"/>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9945" y="47134"/>
            <a:ext cx="1651907" cy="1520890"/>
          </a:xfrm>
          <a:prstGeom prst="rect">
            <a:avLst/>
          </a:prstGeom>
        </p:spPr>
      </p:pic>
      <p:sp>
        <p:nvSpPr>
          <p:cNvPr id="12" name="Título 1">
            <a:extLst>
              <a:ext uri="{FF2B5EF4-FFF2-40B4-BE49-F238E27FC236}">
                <a16:creationId xmlns:a16="http://schemas.microsoft.com/office/drawing/2014/main" id="{9EDC6340-B91C-E7DC-4006-B11F9CA29124}"/>
              </a:ext>
            </a:extLst>
          </p:cNvPr>
          <p:cNvSpPr>
            <a:spLocks noGrp="1"/>
          </p:cNvSpPr>
          <p:nvPr>
            <p:ph type="title"/>
          </p:nvPr>
        </p:nvSpPr>
        <p:spPr>
          <a:xfrm>
            <a:off x="1011936" y="1017159"/>
            <a:ext cx="10168128" cy="1179576"/>
          </a:xfrm>
        </p:spPr>
        <p:txBody>
          <a:bodyPr>
            <a:normAutofit/>
          </a:bodyPr>
          <a:lstStyle/>
          <a:p>
            <a:pPr algn="ctr"/>
            <a:r>
              <a:rPr lang="es-ES" sz="5400" b="1" dirty="0">
                <a:latin typeface="Times New Roman" panose="02020603050405020304" pitchFamily="18" charset="0"/>
                <a:cs typeface="Times New Roman" panose="02020603050405020304" pitchFamily="18" charset="0"/>
              </a:rPr>
              <a:t>Redes</a:t>
            </a:r>
            <a:endParaRPr lang="es-CO" sz="5400" b="1" dirty="0">
              <a:latin typeface="Times New Roman" panose="02020603050405020304" pitchFamily="18" charset="0"/>
              <a:cs typeface="Times New Roman" panose="02020603050405020304" pitchFamily="18" charset="0"/>
            </a:endParaRPr>
          </a:p>
        </p:txBody>
      </p:sp>
      <p:pic>
        <p:nvPicPr>
          <p:cNvPr id="14" name="Imagen 13">
            <a:extLst>
              <a:ext uri="{FF2B5EF4-FFF2-40B4-BE49-F238E27FC236}">
                <a16:creationId xmlns:a16="http://schemas.microsoft.com/office/drawing/2014/main" id="{E63DFE46-F2DC-1C2E-EB74-170DAE46D75E}"/>
              </a:ext>
            </a:extLst>
          </p:cNvPr>
          <p:cNvPicPr>
            <a:picLocks noChangeAspect="1"/>
          </p:cNvPicPr>
          <p:nvPr/>
        </p:nvPicPr>
        <p:blipFill>
          <a:blip r:embed="rId3">
            <a:extLst>
              <a:ext uri="{28A0092B-C50C-407E-A947-70E740481C1C}">
                <a14:useLocalDpi xmlns:a14="http://schemas.microsoft.com/office/drawing/2010/main" val="0"/>
              </a:ext>
            </a:extLst>
          </a:blip>
          <a:srcRect l="18736" t="22864" r="16691" b="35534"/>
          <a:stretch/>
        </p:blipFill>
        <p:spPr>
          <a:xfrm>
            <a:off x="3898194" y="1863916"/>
            <a:ext cx="4428166" cy="4876302"/>
          </a:xfrm>
          <a:prstGeom prst="rect">
            <a:avLst/>
          </a:prstGeom>
        </p:spPr>
      </p:pic>
    </p:spTree>
    <p:extLst>
      <p:ext uri="{BB962C8B-B14F-4D97-AF65-F5344CB8AC3E}">
        <p14:creationId xmlns:p14="http://schemas.microsoft.com/office/powerpoint/2010/main" val="4124448592"/>
      </p:ext>
    </p:extLst>
  </p:cSld>
  <p:clrMapOvr>
    <a:masterClrMapping/>
  </p:clrMapOvr>
  <mc:AlternateContent xmlns:mc="http://schemas.openxmlformats.org/markup-compatibility/2006" xmlns:p14="http://schemas.microsoft.com/office/powerpoint/2010/main">
    <mc:Choice Requires="p14">
      <p:transition p14:dur="10">
        <p14:glitter pattern="hexagon"/>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riángulo rectángulo 4">
            <a:extLst>
              <a:ext uri="{FF2B5EF4-FFF2-40B4-BE49-F238E27FC236}">
                <a16:creationId xmlns:a16="http://schemas.microsoft.com/office/drawing/2014/main" id="{AB14C2AB-5230-6532-874B-A1FD8B5CB85D}"/>
              </a:ext>
            </a:extLst>
          </p:cNvPr>
          <p:cNvSpPr/>
          <p:nvPr/>
        </p:nvSpPr>
        <p:spPr>
          <a:xfrm rot="16200000" flipH="1">
            <a:off x="5694170" y="-4060847"/>
            <a:ext cx="2350927" cy="10644736"/>
          </a:xfrm>
          <a:prstGeom prst="rtTriangle">
            <a:avLst/>
          </a:prstGeom>
          <a:gradFill>
            <a:gsLst>
              <a:gs pos="50000">
                <a:srgbClr val="8DBFFB"/>
              </a:gs>
              <a:gs pos="74000">
                <a:srgbClr val="D6E8FE"/>
              </a:gs>
              <a:gs pos="83000">
                <a:srgbClr val="D6E8FE"/>
              </a:gs>
              <a:gs pos="100000">
                <a:srgbClr val="D6E8FE"/>
              </a:gs>
            </a:gsLst>
            <a:lin ang="5400000" scaled="1"/>
          </a:gradFill>
          <a:ln>
            <a:noFill/>
          </a:ln>
          <a:effectLst>
            <a:glow rad="152400">
              <a:srgbClr val="C3C0E6">
                <a:alpha val="40000"/>
              </a:srgbClr>
            </a:glow>
            <a:outerShdw blurRad="50800" dist="50800" dir="5400000" algn="ctr" rotWithShape="0">
              <a:srgbClr val="8DBFFB"/>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Triángulo rectángulo 3">
            <a:extLst>
              <a:ext uri="{FF2B5EF4-FFF2-40B4-BE49-F238E27FC236}">
                <a16:creationId xmlns:a16="http://schemas.microsoft.com/office/drawing/2014/main" id="{3C597F25-92E5-1E6F-E68B-912BBCF50C04}"/>
              </a:ext>
            </a:extLst>
          </p:cNvPr>
          <p:cNvSpPr/>
          <p:nvPr/>
        </p:nvSpPr>
        <p:spPr>
          <a:xfrm rot="10800000" flipH="1">
            <a:off x="0" y="86384"/>
            <a:ext cx="2350927" cy="6742712"/>
          </a:xfrm>
          <a:prstGeom prst="rtTriangle">
            <a:avLst/>
          </a:prstGeom>
          <a:gradFill>
            <a:gsLst>
              <a:gs pos="50000">
                <a:srgbClr val="8DBFFB"/>
              </a:gs>
              <a:gs pos="74000">
                <a:srgbClr val="D6E8FE"/>
              </a:gs>
              <a:gs pos="83000">
                <a:srgbClr val="D6E8FE"/>
              </a:gs>
              <a:gs pos="100000">
                <a:srgbClr val="D6E8FE"/>
              </a:gs>
            </a:gsLst>
            <a:lin ang="5400000" scaled="1"/>
          </a:gradFill>
          <a:ln>
            <a:noFill/>
          </a:ln>
          <a:effectLst>
            <a:glow rad="152400">
              <a:srgbClr val="C3C0E6">
                <a:alpha val="40000"/>
              </a:srgbClr>
            </a:glow>
            <a:outerShdw blurRad="50800" dist="50800" dir="5400000" algn="ctr" rotWithShape="0">
              <a:srgbClr val="8DBFFB"/>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9" name="CuadroTexto 8">
            <a:extLst>
              <a:ext uri="{FF2B5EF4-FFF2-40B4-BE49-F238E27FC236}">
                <a16:creationId xmlns:a16="http://schemas.microsoft.com/office/drawing/2014/main" id="{43F2B1BC-599E-A086-36B0-0A59F631DD8A}"/>
              </a:ext>
            </a:extLst>
          </p:cNvPr>
          <p:cNvSpPr txBox="1"/>
          <p:nvPr/>
        </p:nvSpPr>
        <p:spPr>
          <a:xfrm>
            <a:off x="6960320" y="123275"/>
            <a:ext cx="5121723" cy="584775"/>
          </a:xfrm>
          <a:prstGeom prst="rect">
            <a:avLst/>
          </a:prstGeom>
          <a:noFill/>
          <a:effectLst>
            <a:glow rad="127000">
              <a:srgbClr val="C3C0E6"/>
            </a:glow>
            <a:outerShdw blurRad="50800" dist="50800" dir="5400000" algn="ctr" rotWithShape="0">
              <a:srgbClr val="C3C0E6"/>
            </a:outerShdw>
          </a:effectLst>
        </p:spPr>
        <p:txBody>
          <a:bodyPr wrap="none" rtlCol="0">
            <a:spAutoFit/>
          </a:bodyPr>
          <a:lstStyle/>
          <a:p>
            <a:pPr algn="r"/>
            <a:r>
              <a:rPr lang="es-CO" sz="1600" dirty="0">
                <a:effectLst>
                  <a:outerShdw blurRad="50800" dist="50800" dir="5400000" algn="ctr" rotWithShape="0">
                    <a:schemeClr val="bg1">
                      <a:lumMod val="75000"/>
                    </a:schemeClr>
                  </a:outerShdw>
                </a:effectLst>
              </a:rPr>
              <a:t>COLEGIO TÉCNICO DISTRITAL PAULO FREIRE IED</a:t>
            </a:r>
          </a:p>
          <a:p>
            <a:pPr algn="r"/>
            <a:r>
              <a:rPr lang="es-CO" sz="1600" dirty="0">
                <a:effectLst>
                  <a:outerShdw blurRad="50800" dist="50800" dir="5400000" algn="ctr" rotWithShape="0">
                    <a:schemeClr val="bg1">
                      <a:lumMod val="75000"/>
                    </a:schemeClr>
                  </a:outerShdw>
                </a:effectLst>
              </a:rPr>
              <a:t>SUSTENTACIÓN PROYECTO DE GRADO 2026</a:t>
            </a:r>
          </a:p>
        </p:txBody>
      </p:sp>
      <p:pic>
        <p:nvPicPr>
          <p:cNvPr id="10" name="Imagen 9" descr="Logotipo&#10;&#10;Descripción generada automáticamente">
            <a:extLst>
              <a:ext uri="{FF2B5EF4-FFF2-40B4-BE49-F238E27FC236}">
                <a16:creationId xmlns:a16="http://schemas.microsoft.com/office/drawing/2014/main" id="{E4D4B5A3-8574-A824-781F-F30C424668E8}"/>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9945" y="47134"/>
            <a:ext cx="1651907" cy="1520890"/>
          </a:xfrm>
          <a:prstGeom prst="rect">
            <a:avLst/>
          </a:prstGeom>
        </p:spPr>
      </p:pic>
      <p:pic>
        <p:nvPicPr>
          <p:cNvPr id="15" name="Imagen 14">
            <a:extLst>
              <a:ext uri="{FF2B5EF4-FFF2-40B4-BE49-F238E27FC236}">
                <a16:creationId xmlns:a16="http://schemas.microsoft.com/office/drawing/2014/main" id="{F5D9601C-9C3E-C9AD-DB30-D0AEA22FE867}"/>
              </a:ext>
            </a:extLst>
          </p:cNvPr>
          <p:cNvPicPr>
            <a:picLocks noChangeAspect="1"/>
          </p:cNvPicPr>
          <p:nvPr/>
        </p:nvPicPr>
        <p:blipFill>
          <a:blip r:embed="rId3">
            <a:extLst>
              <a:ext uri="{28A0092B-C50C-407E-A947-70E740481C1C}">
                <a14:useLocalDpi xmlns:a14="http://schemas.microsoft.com/office/drawing/2010/main" val="0"/>
              </a:ext>
            </a:extLst>
          </a:blip>
          <a:srcRect l="2716" t="29679" r="2716" b="20543"/>
          <a:stretch/>
        </p:blipFill>
        <p:spPr>
          <a:xfrm>
            <a:off x="2749061" y="2113598"/>
            <a:ext cx="6693877" cy="4404328"/>
          </a:xfrm>
          <a:prstGeom prst="rect">
            <a:avLst/>
          </a:prstGeom>
        </p:spPr>
      </p:pic>
      <p:sp>
        <p:nvSpPr>
          <p:cNvPr id="17" name="Título 1">
            <a:extLst>
              <a:ext uri="{FF2B5EF4-FFF2-40B4-BE49-F238E27FC236}">
                <a16:creationId xmlns:a16="http://schemas.microsoft.com/office/drawing/2014/main" id="{59BA2E52-3D06-02DE-56A4-45893675CF7C}"/>
              </a:ext>
            </a:extLst>
          </p:cNvPr>
          <p:cNvSpPr>
            <a:spLocks noGrp="1"/>
          </p:cNvSpPr>
          <p:nvPr>
            <p:ph type="title"/>
          </p:nvPr>
        </p:nvSpPr>
        <p:spPr>
          <a:xfrm>
            <a:off x="1011936" y="1017159"/>
            <a:ext cx="10168128" cy="1179576"/>
          </a:xfrm>
        </p:spPr>
        <p:txBody>
          <a:bodyPr>
            <a:normAutofit/>
          </a:bodyPr>
          <a:lstStyle/>
          <a:p>
            <a:pPr algn="ctr"/>
            <a:r>
              <a:rPr lang="es-ES" sz="5400" b="1">
                <a:latin typeface="Times New Roman" panose="02020603050405020304" pitchFamily="18" charset="0"/>
                <a:cs typeface="Times New Roman" panose="02020603050405020304" pitchFamily="18" charset="0"/>
              </a:rPr>
              <a:t>Pregunta 1 </a:t>
            </a:r>
            <a:endParaRPr lang="es-CO"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6292291"/>
      </p:ext>
    </p:extLst>
  </p:cSld>
  <p:clrMapOvr>
    <a:masterClrMapping/>
  </p:clrMapOvr>
  <mc:AlternateContent xmlns:mc="http://schemas.openxmlformats.org/markup-compatibility/2006" xmlns:p14="http://schemas.microsoft.com/office/powerpoint/2010/main">
    <mc:Choice Requires="p14">
      <p:transition p14:dur="10">
        <p14:glitter pattern="hexagon"/>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4D580-154E-3D5D-0288-4FB58E9A6280}"/>
            </a:ext>
          </a:extLst>
        </p:cNvPr>
        <p:cNvGrpSpPr/>
        <p:nvPr/>
      </p:nvGrpSpPr>
      <p:grpSpPr>
        <a:xfrm>
          <a:off x="0" y="0"/>
          <a:ext cx="0" cy="0"/>
          <a:chOff x="0" y="0"/>
          <a:chExt cx="0" cy="0"/>
        </a:xfrm>
      </p:grpSpPr>
      <p:sp>
        <p:nvSpPr>
          <p:cNvPr id="5" name="Triángulo rectángulo 4">
            <a:extLst>
              <a:ext uri="{FF2B5EF4-FFF2-40B4-BE49-F238E27FC236}">
                <a16:creationId xmlns:a16="http://schemas.microsoft.com/office/drawing/2014/main" id="{151F8D23-5BA3-6E8D-9F13-5A2DAF101C0F}"/>
              </a:ext>
            </a:extLst>
          </p:cNvPr>
          <p:cNvSpPr/>
          <p:nvPr/>
        </p:nvSpPr>
        <p:spPr>
          <a:xfrm rot="16200000" flipH="1">
            <a:off x="5694170" y="-4060847"/>
            <a:ext cx="2350927" cy="10644736"/>
          </a:xfrm>
          <a:prstGeom prst="rtTriangle">
            <a:avLst/>
          </a:prstGeom>
          <a:gradFill>
            <a:gsLst>
              <a:gs pos="50000">
                <a:srgbClr val="8DBFFB"/>
              </a:gs>
              <a:gs pos="74000">
                <a:srgbClr val="D6E8FE"/>
              </a:gs>
              <a:gs pos="83000">
                <a:srgbClr val="D6E8FE"/>
              </a:gs>
              <a:gs pos="100000">
                <a:srgbClr val="D6E8FE"/>
              </a:gs>
            </a:gsLst>
            <a:lin ang="5400000" scaled="1"/>
          </a:gradFill>
          <a:ln>
            <a:noFill/>
          </a:ln>
          <a:effectLst>
            <a:glow rad="152400">
              <a:srgbClr val="C3C0E6">
                <a:alpha val="40000"/>
              </a:srgbClr>
            </a:glow>
            <a:outerShdw blurRad="50800" dist="50800" dir="5400000" algn="ctr" rotWithShape="0">
              <a:srgbClr val="8DBFFB"/>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Triángulo rectángulo 3">
            <a:extLst>
              <a:ext uri="{FF2B5EF4-FFF2-40B4-BE49-F238E27FC236}">
                <a16:creationId xmlns:a16="http://schemas.microsoft.com/office/drawing/2014/main" id="{22D57E2E-7C77-E819-A659-641E927C3FF4}"/>
              </a:ext>
            </a:extLst>
          </p:cNvPr>
          <p:cNvSpPr/>
          <p:nvPr/>
        </p:nvSpPr>
        <p:spPr>
          <a:xfrm rot="10800000" flipH="1">
            <a:off x="0" y="86384"/>
            <a:ext cx="2350927" cy="6742712"/>
          </a:xfrm>
          <a:prstGeom prst="rtTriangle">
            <a:avLst/>
          </a:prstGeom>
          <a:gradFill>
            <a:gsLst>
              <a:gs pos="50000">
                <a:srgbClr val="8DBFFB"/>
              </a:gs>
              <a:gs pos="74000">
                <a:srgbClr val="D6E8FE"/>
              </a:gs>
              <a:gs pos="83000">
                <a:srgbClr val="D6E8FE"/>
              </a:gs>
              <a:gs pos="100000">
                <a:srgbClr val="D6E8FE"/>
              </a:gs>
            </a:gsLst>
            <a:lin ang="5400000" scaled="1"/>
          </a:gradFill>
          <a:ln>
            <a:noFill/>
          </a:ln>
          <a:effectLst>
            <a:glow rad="152400">
              <a:srgbClr val="C3C0E6">
                <a:alpha val="40000"/>
              </a:srgbClr>
            </a:glow>
            <a:outerShdw blurRad="50800" dist="50800" dir="5400000" algn="ctr" rotWithShape="0">
              <a:srgbClr val="8DBFFB"/>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9" name="CuadroTexto 8">
            <a:extLst>
              <a:ext uri="{FF2B5EF4-FFF2-40B4-BE49-F238E27FC236}">
                <a16:creationId xmlns:a16="http://schemas.microsoft.com/office/drawing/2014/main" id="{D1AE4C7D-504C-842B-7522-0836DE74D754}"/>
              </a:ext>
            </a:extLst>
          </p:cNvPr>
          <p:cNvSpPr txBox="1"/>
          <p:nvPr/>
        </p:nvSpPr>
        <p:spPr>
          <a:xfrm>
            <a:off x="6960320" y="123275"/>
            <a:ext cx="5121723" cy="584775"/>
          </a:xfrm>
          <a:prstGeom prst="rect">
            <a:avLst/>
          </a:prstGeom>
          <a:noFill/>
          <a:effectLst>
            <a:glow rad="127000">
              <a:srgbClr val="C3C0E6"/>
            </a:glow>
            <a:outerShdw blurRad="50800" dist="50800" dir="5400000" algn="ctr" rotWithShape="0">
              <a:srgbClr val="C3C0E6"/>
            </a:outerShdw>
          </a:effectLst>
        </p:spPr>
        <p:txBody>
          <a:bodyPr wrap="none" rtlCol="0">
            <a:spAutoFit/>
          </a:bodyPr>
          <a:lstStyle/>
          <a:p>
            <a:pPr algn="r"/>
            <a:r>
              <a:rPr lang="es-CO" sz="1600" dirty="0">
                <a:effectLst>
                  <a:outerShdw blurRad="50800" dist="50800" dir="5400000" algn="ctr" rotWithShape="0">
                    <a:schemeClr val="bg1">
                      <a:lumMod val="75000"/>
                    </a:schemeClr>
                  </a:outerShdw>
                </a:effectLst>
              </a:rPr>
              <a:t>COLEGIO TÉCNICO DISTRITAL PAULO FREIRE IED</a:t>
            </a:r>
          </a:p>
          <a:p>
            <a:pPr algn="r"/>
            <a:r>
              <a:rPr lang="es-CO" sz="1600" dirty="0">
                <a:effectLst>
                  <a:outerShdw blurRad="50800" dist="50800" dir="5400000" algn="ctr" rotWithShape="0">
                    <a:schemeClr val="bg1">
                      <a:lumMod val="75000"/>
                    </a:schemeClr>
                  </a:outerShdw>
                </a:effectLst>
              </a:rPr>
              <a:t>SUSTENTACIÓN PROYECTO DE GRADO 2026</a:t>
            </a:r>
          </a:p>
        </p:txBody>
      </p:sp>
      <p:pic>
        <p:nvPicPr>
          <p:cNvPr id="10" name="Imagen 9" descr="Logotipo&#10;&#10;Descripción generada automáticamente">
            <a:extLst>
              <a:ext uri="{FF2B5EF4-FFF2-40B4-BE49-F238E27FC236}">
                <a16:creationId xmlns:a16="http://schemas.microsoft.com/office/drawing/2014/main" id="{0A7561A7-4B90-D404-80AA-4F9993134D12}"/>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9945" y="47134"/>
            <a:ext cx="1651907" cy="1520890"/>
          </a:xfrm>
          <a:prstGeom prst="rect">
            <a:avLst/>
          </a:prstGeom>
        </p:spPr>
      </p:pic>
      <p:sp>
        <p:nvSpPr>
          <p:cNvPr id="17" name="Título 1">
            <a:extLst>
              <a:ext uri="{FF2B5EF4-FFF2-40B4-BE49-F238E27FC236}">
                <a16:creationId xmlns:a16="http://schemas.microsoft.com/office/drawing/2014/main" id="{BBC3025B-E32E-58D7-86FE-C465A61B0617}"/>
              </a:ext>
            </a:extLst>
          </p:cNvPr>
          <p:cNvSpPr>
            <a:spLocks noGrp="1"/>
          </p:cNvSpPr>
          <p:nvPr>
            <p:ph type="title"/>
          </p:nvPr>
        </p:nvSpPr>
        <p:spPr>
          <a:xfrm>
            <a:off x="1011936" y="1017159"/>
            <a:ext cx="10168128" cy="1179576"/>
          </a:xfrm>
        </p:spPr>
        <p:txBody>
          <a:bodyPr>
            <a:normAutofit/>
          </a:bodyPr>
          <a:lstStyle/>
          <a:p>
            <a:pPr algn="ctr"/>
            <a:r>
              <a:rPr lang="es-ES" sz="5400" b="1" dirty="0">
                <a:latin typeface="Times New Roman" panose="02020603050405020304" pitchFamily="18" charset="0"/>
                <a:cs typeface="Times New Roman" panose="02020603050405020304" pitchFamily="18" charset="0"/>
              </a:rPr>
              <a:t>Pregunta 2 </a:t>
            </a:r>
            <a:endParaRPr lang="es-CO" sz="5400" b="1" dirty="0">
              <a:latin typeface="Times New Roman" panose="02020603050405020304" pitchFamily="18" charset="0"/>
              <a:cs typeface="Times New Roman" panose="02020603050405020304" pitchFamily="18" charset="0"/>
            </a:endParaRPr>
          </a:p>
        </p:txBody>
      </p:sp>
      <p:pic>
        <p:nvPicPr>
          <p:cNvPr id="3" name="Imagen 2">
            <a:extLst>
              <a:ext uri="{FF2B5EF4-FFF2-40B4-BE49-F238E27FC236}">
                <a16:creationId xmlns:a16="http://schemas.microsoft.com/office/drawing/2014/main" id="{C9CA5D40-B1CC-1C46-6461-FEB6C52BF999}"/>
              </a:ext>
            </a:extLst>
          </p:cNvPr>
          <p:cNvPicPr>
            <a:picLocks noChangeAspect="1"/>
          </p:cNvPicPr>
          <p:nvPr/>
        </p:nvPicPr>
        <p:blipFill>
          <a:blip r:embed="rId3">
            <a:extLst>
              <a:ext uri="{28A0092B-C50C-407E-A947-70E740481C1C}">
                <a14:useLocalDpi xmlns:a14="http://schemas.microsoft.com/office/drawing/2010/main" val="0"/>
              </a:ext>
            </a:extLst>
          </a:blip>
          <a:srcRect l="2137" t="28376" r="1710" b="18462"/>
          <a:stretch/>
        </p:blipFill>
        <p:spPr>
          <a:xfrm>
            <a:off x="2754923" y="2118029"/>
            <a:ext cx="6682154" cy="4618112"/>
          </a:xfrm>
          <a:prstGeom prst="rect">
            <a:avLst/>
          </a:prstGeom>
        </p:spPr>
      </p:pic>
    </p:spTree>
    <p:extLst>
      <p:ext uri="{BB962C8B-B14F-4D97-AF65-F5344CB8AC3E}">
        <p14:creationId xmlns:p14="http://schemas.microsoft.com/office/powerpoint/2010/main" val="3453374278"/>
      </p:ext>
    </p:extLst>
  </p:cSld>
  <p:clrMapOvr>
    <a:masterClrMapping/>
  </p:clrMapOvr>
  <mc:AlternateContent xmlns:mc="http://schemas.openxmlformats.org/markup-compatibility/2006">
    <mc:Choice xmlns:p14="http://schemas.microsoft.com/office/powerpoint/2010/main" Requires="p14">
      <p:transition p14:dur="10">
        <p14:glitter pattern="hexagon"/>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775A8-4520-A7C3-5003-811071F0B0CA}"/>
            </a:ext>
          </a:extLst>
        </p:cNvPr>
        <p:cNvGrpSpPr/>
        <p:nvPr/>
      </p:nvGrpSpPr>
      <p:grpSpPr>
        <a:xfrm>
          <a:off x="0" y="0"/>
          <a:ext cx="0" cy="0"/>
          <a:chOff x="0" y="0"/>
          <a:chExt cx="0" cy="0"/>
        </a:xfrm>
      </p:grpSpPr>
      <p:sp>
        <p:nvSpPr>
          <p:cNvPr id="5" name="Triángulo rectángulo 4">
            <a:extLst>
              <a:ext uri="{FF2B5EF4-FFF2-40B4-BE49-F238E27FC236}">
                <a16:creationId xmlns:a16="http://schemas.microsoft.com/office/drawing/2014/main" id="{FAC8C052-DCB5-41FE-4D56-A529D6201AAB}"/>
              </a:ext>
            </a:extLst>
          </p:cNvPr>
          <p:cNvSpPr/>
          <p:nvPr/>
        </p:nvSpPr>
        <p:spPr>
          <a:xfrm rot="16200000" flipH="1">
            <a:off x="5694170" y="-4060847"/>
            <a:ext cx="2350927" cy="10644736"/>
          </a:xfrm>
          <a:prstGeom prst="rtTriangle">
            <a:avLst/>
          </a:prstGeom>
          <a:gradFill>
            <a:gsLst>
              <a:gs pos="50000">
                <a:srgbClr val="8DBFFB"/>
              </a:gs>
              <a:gs pos="74000">
                <a:srgbClr val="D6E8FE"/>
              </a:gs>
              <a:gs pos="83000">
                <a:srgbClr val="D6E8FE"/>
              </a:gs>
              <a:gs pos="100000">
                <a:srgbClr val="D6E8FE"/>
              </a:gs>
            </a:gsLst>
            <a:lin ang="5400000" scaled="1"/>
          </a:gradFill>
          <a:ln>
            <a:noFill/>
          </a:ln>
          <a:effectLst>
            <a:glow rad="152400">
              <a:srgbClr val="C3C0E6">
                <a:alpha val="40000"/>
              </a:srgbClr>
            </a:glow>
            <a:outerShdw blurRad="50800" dist="50800" dir="5400000" algn="ctr" rotWithShape="0">
              <a:srgbClr val="8DBFFB"/>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Triángulo rectángulo 3">
            <a:extLst>
              <a:ext uri="{FF2B5EF4-FFF2-40B4-BE49-F238E27FC236}">
                <a16:creationId xmlns:a16="http://schemas.microsoft.com/office/drawing/2014/main" id="{19F2D8FC-D383-6893-CD84-8FCAD0B4FF77}"/>
              </a:ext>
            </a:extLst>
          </p:cNvPr>
          <p:cNvSpPr/>
          <p:nvPr/>
        </p:nvSpPr>
        <p:spPr>
          <a:xfrm rot="10800000" flipH="1">
            <a:off x="0" y="86384"/>
            <a:ext cx="2350927" cy="6742712"/>
          </a:xfrm>
          <a:prstGeom prst="rtTriangle">
            <a:avLst/>
          </a:prstGeom>
          <a:gradFill>
            <a:gsLst>
              <a:gs pos="50000">
                <a:srgbClr val="8DBFFB"/>
              </a:gs>
              <a:gs pos="74000">
                <a:srgbClr val="D6E8FE"/>
              </a:gs>
              <a:gs pos="83000">
                <a:srgbClr val="D6E8FE"/>
              </a:gs>
              <a:gs pos="100000">
                <a:srgbClr val="D6E8FE"/>
              </a:gs>
            </a:gsLst>
            <a:lin ang="5400000" scaled="1"/>
          </a:gradFill>
          <a:ln>
            <a:noFill/>
          </a:ln>
          <a:effectLst>
            <a:glow rad="152400">
              <a:srgbClr val="C3C0E6">
                <a:alpha val="40000"/>
              </a:srgbClr>
            </a:glow>
            <a:outerShdw blurRad="50800" dist="50800" dir="5400000" algn="ctr" rotWithShape="0">
              <a:srgbClr val="8DBFFB"/>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9" name="CuadroTexto 8">
            <a:extLst>
              <a:ext uri="{FF2B5EF4-FFF2-40B4-BE49-F238E27FC236}">
                <a16:creationId xmlns:a16="http://schemas.microsoft.com/office/drawing/2014/main" id="{02BC24F0-E948-5DFB-F181-4FE8E9F06773}"/>
              </a:ext>
            </a:extLst>
          </p:cNvPr>
          <p:cNvSpPr txBox="1"/>
          <p:nvPr/>
        </p:nvSpPr>
        <p:spPr>
          <a:xfrm>
            <a:off x="6960320" y="123275"/>
            <a:ext cx="5121723" cy="584775"/>
          </a:xfrm>
          <a:prstGeom prst="rect">
            <a:avLst/>
          </a:prstGeom>
          <a:noFill/>
          <a:effectLst>
            <a:glow rad="127000">
              <a:srgbClr val="C3C0E6"/>
            </a:glow>
            <a:outerShdw blurRad="50800" dist="50800" dir="5400000" algn="ctr" rotWithShape="0">
              <a:srgbClr val="C3C0E6"/>
            </a:outerShdw>
          </a:effectLst>
        </p:spPr>
        <p:txBody>
          <a:bodyPr wrap="none" rtlCol="0">
            <a:spAutoFit/>
          </a:bodyPr>
          <a:lstStyle/>
          <a:p>
            <a:pPr algn="r"/>
            <a:r>
              <a:rPr lang="es-CO" sz="1600" dirty="0">
                <a:effectLst>
                  <a:outerShdw blurRad="50800" dist="50800" dir="5400000" algn="ctr" rotWithShape="0">
                    <a:schemeClr val="bg1">
                      <a:lumMod val="75000"/>
                    </a:schemeClr>
                  </a:outerShdw>
                </a:effectLst>
              </a:rPr>
              <a:t>COLEGIO TÉCNICO DISTRITAL PAULO FREIRE IED</a:t>
            </a:r>
          </a:p>
          <a:p>
            <a:pPr algn="r"/>
            <a:r>
              <a:rPr lang="es-CO" sz="1600" dirty="0">
                <a:effectLst>
                  <a:outerShdw blurRad="50800" dist="50800" dir="5400000" algn="ctr" rotWithShape="0">
                    <a:schemeClr val="bg1">
                      <a:lumMod val="75000"/>
                    </a:schemeClr>
                  </a:outerShdw>
                </a:effectLst>
              </a:rPr>
              <a:t>SUSTENTACIÓN PROYECTO DE GRADO 2026</a:t>
            </a:r>
          </a:p>
        </p:txBody>
      </p:sp>
      <p:pic>
        <p:nvPicPr>
          <p:cNvPr id="10" name="Imagen 9" descr="Logotipo&#10;&#10;Descripción generada automáticamente">
            <a:extLst>
              <a:ext uri="{FF2B5EF4-FFF2-40B4-BE49-F238E27FC236}">
                <a16:creationId xmlns:a16="http://schemas.microsoft.com/office/drawing/2014/main" id="{985AAE17-2066-9BD8-55F9-87357B70DEE0}"/>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9945" y="47134"/>
            <a:ext cx="1651907" cy="1520890"/>
          </a:xfrm>
          <a:prstGeom prst="rect">
            <a:avLst/>
          </a:prstGeom>
        </p:spPr>
      </p:pic>
      <p:sp>
        <p:nvSpPr>
          <p:cNvPr id="17" name="Título 1">
            <a:extLst>
              <a:ext uri="{FF2B5EF4-FFF2-40B4-BE49-F238E27FC236}">
                <a16:creationId xmlns:a16="http://schemas.microsoft.com/office/drawing/2014/main" id="{21ACBC70-A472-4282-E5CD-8D0FF8AE3BAB}"/>
              </a:ext>
            </a:extLst>
          </p:cNvPr>
          <p:cNvSpPr>
            <a:spLocks noGrp="1"/>
          </p:cNvSpPr>
          <p:nvPr>
            <p:ph type="title"/>
          </p:nvPr>
        </p:nvSpPr>
        <p:spPr>
          <a:xfrm>
            <a:off x="1011936" y="1017159"/>
            <a:ext cx="10168128" cy="1179576"/>
          </a:xfrm>
        </p:spPr>
        <p:txBody>
          <a:bodyPr>
            <a:normAutofit/>
          </a:bodyPr>
          <a:lstStyle/>
          <a:p>
            <a:pPr algn="ctr"/>
            <a:r>
              <a:rPr lang="es-ES" sz="5400" b="1" dirty="0">
                <a:latin typeface="Times New Roman" panose="02020603050405020304" pitchFamily="18" charset="0"/>
                <a:cs typeface="Times New Roman" panose="02020603050405020304" pitchFamily="18" charset="0"/>
              </a:rPr>
              <a:t>Pregunta 4 </a:t>
            </a:r>
            <a:endParaRPr lang="es-CO" sz="5400" b="1" dirty="0">
              <a:latin typeface="Times New Roman" panose="02020603050405020304" pitchFamily="18" charset="0"/>
              <a:cs typeface="Times New Roman" panose="02020603050405020304" pitchFamily="18" charset="0"/>
            </a:endParaRPr>
          </a:p>
        </p:txBody>
      </p:sp>
      <p:pic>
        <p:nvPicPr>
          <p:cNvPr id="3" name="Imagen 2">
            <a:extLst>
              <a:ext uri="{FF2B5EF4-FFF2-40B4-BE49-F238E27FC236}">
                <a16:creationId xmlns:a16="http://schemas.microsoft.com/office/drawing/2014/main" id="{548BDE6E-DA4C-348D-6AA4-6C249D8FB91D}"/>
              </a:ext>
            </a:extLst>
          </p:cNvPr>
          <p:cNvPicPr>
            <a:picLocks noChangeAspect="1"/>
          </p:cNvPicPr>
          <p:nvPr/>
        </p:nvPicPr>
        <p:blipFill>
          <a:blip r:embed="rId3">
            <a:extLst>
              <a:ext uri="{28A0092B-C50C-407E-A947-70E740481C1C}">
                <a14:useLocalDpi xmlns:a14="http://schemas.microsoft.com/office/drawing/2010/main" val="0"/>
              </a:ext>
            </a:extLst>
          </a:blip>
          <a:srcRect l="2156" t="28622" r="2586" b="18103"/>
          <a:stretch/>
        </p:blipFill>
        <p:spPr>
          <a:xfrm>
            <a:off x="2990574" y="2151259"/>
            <a:ext cx="6210851" cy="4341976"/>
          </a:xfrm>
          <a:prstGeom prst="rect">
            <a:avLst/>
          </a:prstGeom>
        </p:spPr>
      </p:pic>
    </p:spTree>
    <p:extLst>
      <p:ext uri="{BB962C8B-B14F-4D97-AF65-F5344CB8AC3E}">
        <p14:creationId xmlns:p14="http://schemas.microsoft.com/office/powerpoint/2010/main" val="1080956850"/>
      </p:ext>
    </p:extLst>
  </p:cSld>
  <p:clrMapOvr>
    <a:masterClrMapping/>
  </p:clrMapOvr>
  <mc:AlternateContent xmlns:mc="http://schemas.openxmlformats.org/markup-compatibility/2006">
    <mc:Choice xmlns:p14="http://schemas.microsoft.com/office/powerpoint/2010/main" Requires="p14">
      <p:transition p14:dur="10">
        <p14:glitter pattern="hexagon"/>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C32B4-1472-55F0-7C3C-6232570DD1C8}"/>
            </a:ext>
          </a:extLst>
        </p:cNvPr>
        <p:cNvGrpSpPr/>
        <p:nvPr/>
      </p:nvGrpSpPr>
      <p:grpSpPr>
        <a:xfrm>
          <a:off x="0" y="0"/>
          <a:ext cx="0" cy="0"/>
          <a:chOff x="0" y="0"/>
          <a:chExt cx="0" cy="0"/>
        </a:xfrm>
      </p:grpSpPr>
      <p:sp>
        <p:nvSpPr>
          <p:cNvPr id="5" name="Triángulo rectángulo 4">
            <a:extLst>
              <a:ext uri="{FF2B5EF4-FFF2-40B4-BE49-F238E27FC236}">
                <a16:creationId xmlns:a16="http://schemas.microsoft.com/office/drawing/2014/main" id="{C1B6E8C0-DC53-9A75-194D-5AC49EC47306}"/>
              </a:ext>
            </a:extLst>
          </p:cNvPr>
          <p:cNvSpPr/>
          <p:nvPr/>
        </p:nvSpPr>
        <p:spPr>
          <a:xfrm rot="16200000" flipH="1">
            <a:off x="5694170" y="-4060847"/>
            <a:ext cx="2350927" cy="10644736"/>
          </a:xfrm>
          <a:prstGeom prst="rtTriangle">
            <a:avLst/>
          </a:prstGeom>
          <a:gradFill>
            <a:gsLst>
              <a:gs pos="50000">
                <a:srgbClr val="8DBFFB"/>
              </a:gs>
              <a:gs pos="74000">
                <a:srgbClr val="D6E8FE"/>
              </a:gs>
              <a:gs pos="83000">
                <a:srgbClr val="D6E8FE"/>
              </a:gs>
              <a:gs pos="100000">
                <a:srgbClr val="D6E8FE"/>
              </a:gs>
            </a:gsLst>
            <a:lin ang="5400000" scaled="1"/>
          </a:gradFill>
          <a:ln>
            <a:noFill/>
          </a:ln>
          <a:effectLst>
            <a:glow rad="152400">
              <a:srgbClr val="C3C0E6">
                <a:alpha val="40000"/>
              </a:srgbClr>
            </a:glow>
            <a:outerShdw blurRad="50800" dist="50800" dir="5400000" algn="ctr" rotWithShape="0">
              <a:srgbClr val="8DBFFB"/>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Triángulo rectángulo 3">
            <a:extLst>
              <a:ext uri="{FF2B5EF4-FFF2-40B4-BE49-F238E27FC236}">
                <a16:creationId xmlns:a16="http://schemas.microsoft.com/office/drawing/2014/main" id="{E23A7855-D4B2-BEC9-D131-18DE41DF4F49}"/>
              </a:ext>
            </a:extLst>
          </p:cNvPr>
          <p:cNvSpPr/>
          <p:nvPr/>
        </p:nvSpPr>
        <p:spPr>
          <a:xfrm rot="10800000" flipH="1">
            <a:off x="0" y="86384"/>
            <a:ext cx="2350927" cy="6742712"/>
          </a:xfrm>
          <a:prstGeom prst="rtTriangle">
            <a:avLst/>
          </a:prstGeom>
          <a:gradFill>
            <a:gsLst>
              <a:gs pos="50000">
                <a:srgbClr val="8DBFFB"/>
              </a:gs>
              <a:gs pos="74000">
                <a:srgbClr val="D6E8FE"/>
              </a:gs>
              <a:gs pos="83000">
                <a:srgbClr val="D6E8FE"/>
              </a:gs>
              <a:gs pos="100000">
                <a:srgbClr val="D6E8FE"/>
              </a:gs>
            </a:gsLst>
            <a:lin ang="5400000" scaled="1"/>
          </a:gradFill>
          <a:ln>
            <a:noFill/>
          </a:ln>
          <a:effectLst>
            <a:glow rad="152400">
              <a:srgbClr val="C3C0E6">
                <a:alpha val="40000"/>
              </a:srgbClr>
            </a:glow>
            <a:outerShdw blurRad="50800" dist="50800" dir="5400000" algn="ctr" rotWithShape="0">
              <a:srgbClr val="8DBFFB"/>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9" name="CuadroTexto 8">
            <a:extLst>
              <a:ext uri="{FF2B5EF4-FFF2-40B4-BE49-F238E27FC236}">
                <a16:creationId xmlns:a16="http://schemas.microsoft.com/office/drawing/2014/main" id="{FB72F00D-4D44-F53A-6790-0CD65F230563}"/>
              </a:ext>
            </a:extLst>
          </p:cNvPr>
          <p:cNvSpPr txBox="1"/>
          <p:nvPr/>
        </p:nvSpPr>
        <p:spPr>
          <a:xfrm>
            <a:off x="6960320" y="123275"/>
            <a:ext cx="5121723" cy="584775"/>
          </a:xfrm>
          <a:prstGeom prst="rect">
            <a:avLst/>
          </a:prstGeom>
          <a:noFill/>
          <a:effectLst>
            <a:glow rad="127000">
              <a:srgbClr val="C3C0E6"/>
            </a:glow>
            <a:outerShdw blurRad="50800" dist="50800" dir="5400000" algn="ctr" rotWithShape="0">
              <a:srgbClr val="C3C0E6"/>
            </a:outerShdw>
          </a:effectLst>
        </p:spPr>
        <p:txBody>
          <a:bodyPr wrap="none" rtlCol="0">
            <a:spAutoFit/>
          </a:bodyPr>
          <a:lstStyle/>
          <a:p>
            <a:pPr algn="r"/>
            <a:r>
              <a:rPr lang="es-CO" sz="1600" dirty="0">
                <a:effectLst>
                  <a:outerShdw blurRad="50800" dist="50800" dir="5400000" algn="ctr" rotWithShape="0">
                    <a:schemeClr val="bg1">
                      <a:lumMod val="75000"/>
                    </a:schemeClr>
                  </a:outerShdw>
                </a:effectLst>
              </a:rPr>
              <a:t>COLEGIO TÉCNICO DISTRITAL PAULO FREIRE IED</a:t>
            </a:r>
          </a:p>
          <a:p>
            <a:pPr algn="r"/>
            <a:r>
              <a:rPr lang="es-CO" sz="1600" dirty="0">
                <a:effectLst>
                  <a:outerShdw blurRad="50800" dist="50800" dir="5400000" algn="ctr" rotWithShape="0">
                    <a:schemeClr val="bg1">
                      <a:lumMod val="75000"/>
                    </a:schemeClr>
                  </a:outerShdw>
                </a:effectLst>
              </a:rPr>
              <a:t>SUSTENTACIÓN PROYECTO DE GRADO 2026</a:t>
            </a:r>
          </a:p>
        </p:txBody>
      </p:sp>
      <p:pic>
        <p:nvPicPr>
          <p:cNvPr id="10" name="Imagen 9" descr="Logotipo&#10;&#10;Descripción generada automáticamente">
            <a:extLst>
              <a:ext uri="{FF2B5EF4-FFF2-40B4-BE49-F238E27FC236}">
                <a16:creationId xmlns:a16="http://schemas.microsoft.com/office/drawing/2014/main" id="{9E315A86-918D-AABF-FDC6-E254E3A52EF9}"/>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9945" y="47134"/>
            <a:ext cx="1651907" cy="1520890"/>
          </a:xfrm>
          <a:prstGeom prst="rect">
            <a:avLst/>
          </a:prstGeom>
        </p:spPr>
      </p:pic>
      <p:sp>
        <p:nvSpPr>
          <p:cNvPr id="17" name="Título 1">
            <a:extLst>
              <a:ext uri="{FF2B5EF4-FFF2-40B4-BE49-F238E27FC236}">
                <a16:creationId xmlns:a16="http://schemas.microsoft.com/office/drawing/2014/main" id="{15363883-E36D-C187-83B0-401A1B6793A6}"/>
              </a:ext>
            </a:extLst>
          </p:cNvPr>
          <p:cNvSpPr>
            <a:spLocks noGrp="1"/>
          </p:cNvSpPr>
          <p:nvPr>
            <p:ph type="title"/>
          </p:nvPr>
        </p:nvSpPr>
        <p:spPr>
          <a:xfrm>
            <a:off x="1011936" y="1017159"/>
            <a:ext cx="10168128" cy="1179576"/>
          </a:xfrm>
        </p:spPr>
        <p:txBody>
          <a:bodyPr>
            <a:normAutofit/>
          </a:bodyPr>
          <a:lstStyle/>
          <a:p>
            <a:pPr algn="ctr"/>
            <a:r>
              <a:rPr lang="es-ES" sz="5400" b="1" dirty="0">
                <a:latin typeface="Times New Roman" panose="02020603050405020304" pitchFamily="18" charset="0"/>
                <a:cs typeface="Times New Roman" panose="02020603050405020304" pitchFamily="18" charset="0"/>
              </a:rPr>
              <a:t>Pregunta 5 </a:t>
            </a:r>
            <a:endParaRPr lang="es-CO" sz="5400" b="1" dirty="0">
              <a:latin typeface="Times New Roman" panose="02020603050405020304" pitchFamily="18" charset="0"/>
              <a:cs typeface="Times New Roman" panose="02020603050405020304" pitchFamily="18" charset="0"/>
            </a:endParaRPr>
          </a:p>
        </p:txBody>
      </p:sp>
      <p:pic>
        <p:nvPicPr>
          <p:cNvPr id="3" name="Imagen 2">
            <a:extLst>
              <a:ext uri="{FF2B5EF4-FFF2-40B4-BE49-F238E27FC236}">
                <a16:creationId xmlns:a16="http://schemas.microsoft.com/office/drawing/2014/main" id="{6A8348D9-44BD-FA00-A2FE-190C51B9AC47}"/>
              </a:ext>
            </a:extLst>
          </p:cNvPr>
          <p:cNvPicPr>
            <a:picLocks noChangeAspect="1"/>
          </p:cNvPicPr>
          <p:nvPr/>
        </p:nvPicPr>
        <p:blipFill>
          <a:blip r:embed="rId3">
            <a:extLst>
              <a:ext uri="{28A0092B-C50C-407E-A947-70E740481C1C}">
                <a14:useLocalDpi xmlns:a14="http://schemas.microsoft.com/office/drawing/2010/main" val="0"/>
              </a:ext>
            </a:extLst>
          </a:blip>
          <a:srcRect l="1923" t="19829" r="2351" b="9572"/>
          <a:stretch/>
        </p:blipFill>
        <p:spPr>
          <a:xfrm>
            <a:off x="3130062" y="1987464"/>
            <a:ext cx="5251938" cy="4841632"/>
          </a:xfrm>
          <a:prstGeom prst="rect">
            <a:avLst/>
          </a:prstGeom>
        </p:spPr>
      </p:pic>
    </p:spTree>
    <p:extLst>
      <p:ext uri="{BB962C8B-B14F-4D97-AF65-F5344CB8AC3E}">
        <p14:creationId xmlns:p14="http://schemas.microsoft.com/office/powerpoint/2010/main" val="3039738198"/>
      </p:ext>
    </p:extLst>
  </p:cSld>
  <p:clrMapOvr>
    <a:masterClrMapping/>
  </p:clrMapOvr>
  <mc:AlternateContent xmlns:mc="http://schemas.openxmlformats.org/markup-compatibility/2006">
    <mc:Choice xmlns:p14="http://schemas.microsoft.com/office/powerpoint/2010/main" Requires="p14">
      <p:transition p14:dur="10">
        <p14:glitter pattern="hexagon"/>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53983-84DC-78AB-27B4-5E72309D4405}"/>
            </a:ext>
          </a:extLst>
        </p:cNvPr>
        <p:cNvGrpSpPr/>
        <p:nvPr/>
      </p:nvGrpSpPr>
      <p:grpSpPr>
        <a:xfrm>
          <a:off x="0" y="0"/>
          <a:ext cx="0" cy="0"/>
          <a:chOff x="0" y="0"/>
          <a:chExt cx="0" cy="0"/>
        </a:xfrm>
      </p:grpSpPr>
      <p:sp>
        <p:nvSpPr>
          <p:cNvPr id="5" name="Triángulo rectángulo 4">
            <a:extLst>
              <a:ext uri="{FF2B5EF4-FFF2-40B4-BE49-F238E27FC236}">
                <a16:creationId xmlns:a16="http://schemas.microsoft.com/office/drawing/2014/main" id="{03CCA796-C974-C511-B83A-26DC41C1FA77}"/>
              </a:ext>
            </a:extLst>
          </p:cNvPr>
          <p:cNvSpPr/>
          <p:nvPr/>
        </p:nvSpPr>
        <p:spPr>
          <a:xfrm rot="16200000" flipH="1">
            <a:off x="5694170" y="-4060847"/>
            <a:ext cx="2350927" cy="10644736"/>
          </a:xfrm>
          <a:prstGeom prst="rtTriangle">
            <a:avLst/>
          </a:prstGeom>
          <a:gradFill>
            <a:gsLst>
              <a:gs pos="50000">
                <a:srgbClr val="8DBFFB"/>
              </a:gs>
              <a:gs pos="74000">
                <a:srgbClr val="D6E8FE"/>
              </a:gs>
              <a:gs pos="83000">
                <a:srgbClr val="D6E8FE"/>
              </a:gs>
              <a:gs pos="100000">
                <a:srgbClr val="D6E8FE"/>
              </a:gs>
            </a:gsLst>
            <a:lin ang="5400000" scaled="1"/>
          </a:gradFill>
          <a:ln>
            <a:noFill/>
          </a:ln>
          <a:effectLst>
            <a:glow rad="152400">
              <a:srgbClr val="C3C0E6">
                <a:alpha val="40000"/>
              </a:srgbClr>
            </a:glow>
            <a:outerShdw blurRad="50800" dist="50800" dir="5400000" algn="ctr" rotWithShape="0">
              <a:srgbClr val="8DBFFB"/>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Triángulo rectángulo 3">
            <a:extLst>
              <a:ext uri="{FF2B5EF4-FFF2-40B4-BE49-F238E27FC236}">
                <a16:creationId xmlns:a16="http://schemas.microsoft.com/office/drawing/2014/main" id="{3AAB16F9-0454-F353-658C-29A7B3BFB6E8}"/>
              </a:ext>
            </a:extLst>
          </p:cNvPr>
          <p:cNvSpPr/>
          <p:nvPr/>
        </p:nvSpPr>
        <p:spPr>
          <a:xfrm rot="10800000" flipH="1">
            <a:off x="0" y="86384"/>
            <a:ext cx="2350927" cy="6742712"/>
          </a:xfrm>
          <a:prstGeom prst="rtTriangle">
            <a:avLst/>
          </a:prstGeom>
          <a:gradFill>
            <a:gsLst>
              <a:gs pos="50000">
                <a:srgbClr val="8DBFFB"/>
              </a:gs>
              <a:gs pos="74000">
                <a:srgbClr val="D6E8FE"/>
              </a:gs>
              <a:gs pos="83000">
                <a:srgbClr val="D6E8FE"/>
              </a:gs>
              <a:gs pos="100000">
                <a:srgbClr val="D6E8FE"/>
              </a:gs>
            </a:gsLst>
            <a:lin ang="5400000" scaled="1"/>
          </a:gradFill>
          <a:ln>
            <a:noFill/>
          </a:ln>
          <a:effectLst>
            <a:glow rad="152400">
              <a:srgbClr val="C3C0E6">
                <a:alpha val="40000"/>
              </a:srgbClr>
            </a:glow>
            <a:outerShdw blurRad="50800" dist="50800" dir="5400000" algn="ctr" rotWithShape="0">
              <a:srgbClr val="8DBFFB"/>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9" name="CuadroTexto 8">
            <a:extLst>
              <a:ext uri="{FF2B5EF4-FFF2-40B4-BE49-F238E27FC236}">
                <a16:creationId xmlns:a16="http://schemas.microsoft.com/office/drawing/2014/main" id="{0CD5FFD3-2B39-C482-1385-AC24D4526F22}"/>
              </a:ext>
            </a:extLst>
          </p:cNvPr>
          <p:cNvSpPr txBox="1"/>
          <p:nvPr/>
        </p:nvSpPr>
        <p:spPr>
          <a:xfrm>
            <a:off x="6960320" y="123275"/>
            <a:ext cx="5121723" cy="584775"/>
          </a:xfrm>
          <a:prstGeom prst="rect">
            <a:avLst/>
          </a:prstGeom>
          <a:noFill/>
          <a:effectLst>
            <a:glow rad="127000">
              <a:srgbClr val="C3C0E6"/>
            </a:glow>
            <a:outerShdw blurRad="50800" dist="50800" dir="5400000" algn="ctr" rotWithShape="0">
              <a:srgbClr val="C3C0E6"/>
            </a:outerShdw>
          </a:effectLst>
        </p:spPr>
        <p:txBody>
          <a:bodyPr wrap="none" rtlCol="0">
            <a:spAutoFit/>
          </a:bodyPr>
          <a:lstStyle/>
          <a:p>
            <a:pPr algn="r"/>
            <a:r>
              <a:rPr lang="es-CO" sz="1600" dirty="0">
                <a:effectLst>
                  <a:outerShdw blurRad="50800" dist="50800" dir="5400000" algn="ctr" rotWithShape="0">
                    <a:schemeClr val="bg1">
                      <a:lumMod val="75000"/>
                    </a:schemeClr>
                  </a:outerShdw>
                </a:effectLst>
              </a:rPr>
              <a:t>COLEGIO TÉCNICO DISTRITAL PAULO FREIRE IED</a:t>
            </a:r>
          </a:p>
          <a:p>
            <a:pPr algn="r"/>
            <a:r>
              <a:rPr lang="es-CO" sz="1600" dirty="0">
                <a:effectLst>
                  <a:outerShdw blurRad="50800" dist="50800" dir="5400000" algn="ctr" rotWithShape="0">
                    <a:schemeClr val="bg1">
                      <a:lumMod val="75000"/>
                    </a:schemeClr>
                  </a:outerShdw>
                </a:effectLst>
              </a:rPr>
              <a:t>SUSTENTACIÓN PROYECTO DE GRADO 2026</a:t>
            </a:r>
          </a:p>
        </p:txBody>
      </p:sp>
      <p:pic>
        <p:nvPicPr>
          <p:cNvPr id="10" name="Imagen 9" descr="Logotipo&#10;&#10;Descripción generada automáticamente">
            <a:extLst>
              <a:ext uri="{FF2B5EF4-FFF2-40B4-BE49-F238E27FC236}">
                <a16:creationId xmlns:a16="http://schemas.microsoft.com/office/drawing/2014/main" id="{78AD1606-F5E3-380B-706C-0B27FF8A72F7}"/>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9945" y="47134"/>
            <a:ext cx="1651907" cy="1520890"/>
          </a:xfrm>
          <a:prstGeom prst="rect">
            <a:avLst/>
          </a:prstGeom>
        </p:spPr>
      </p:pic>
      <p:sp>
        <p:nvSpPr>
          <p:cNvPr id="17" name="Título 1">
            <a:extLst>
              <a:ext uri="{FF2B5EF4-FFF2-40B4-BE49-F238E27FC236}">
                <a16:creationId xmlns:a16="http://schemas.microsoft.com/office/drawing/2014/main" id="{145C1C16-B1FA-584E-3339-9510D372886C}"/>
              </a:ext>
            </a:extLst>
          </p:cNvPr>
          <p:cNvSpPr>
            <a:spLocks noGrp="1"/>
          </p:cNvSpPr>
          <p:nvPr>
            <p:ph type="title"/>
          </p:nvPr>
        </p:nvSpPr>
        <p:spPr>
          <a:xfrm>
            <a:off x="1011936" y="1017159"/>
            <a:ext cx="10168128" cy="1179576"/>
          </a:xfrm>
        </p:spPr>
        <p:txBody>
          <a:bodyPr>
            <a:normAutofit/>
          </a:bodyPr>
          <a:lstStyle/>
          <a:p>
            <a:pPr algn="ctr"/>
            <a:r>
              <a:rPr lang="es-ES" sz="5400" b="1" dirty="0">
                <a:latin typeface="Times New Roman" panose="02020603050405020304" pitchFamily="18" charset="0"/>
                <a:cs typeface="Times New Roman" panose="02020603050405020304" pitchFamily="18" charset="0"/>
              </a:rPr>
              <a:t>Pregunta 9 </a:t>
            </a:r>
            <a:endParaRPr lang="es-CO" sz="5400" b="1" dirty="0">
              <a:latin typeface="Times New Roman" panose="02020603050405020304" pitchFamily="18" charset="0"/>
              <a:cs typeface="Times New Roman" panose="02020603050405020304" pitchFamily="18" charset="0"/>
            </a:endParaRPr>
          </a:p>
        </p:txBody>
      </p:sp>
      <p:pic>
        <p:nvPicPr>
          <p:cNvPr id="6" name="Imagen 5">
            <a:extLst>
              <a:ext uri="{FF2B5EF4-FFF2-40B4-BE49-F238E27FC236}">
                <a16:creationId xmlns:a16="http://schemas.microsoft.com/office/drawing/2014/main" id="{28C00F31-CB7E-E42D-641F-CD6D6ED15FE7}"/>
              </a:ext>
            </a:extLst>
          </p:cNvPr>
          <p:cNvPicPr>
            <a:picLocks noChangeAspect="1"/>
          </p:cNvPicPr>
          <p:nvPr/>
        </p:nvPicPr>
        <p:blipFill>
          <a:blip r:embed="rId3">
            <a:extLst>
              <a:ext uri="{28A0092B-C50C-407E-A947-70E740481C1C}">
                <a14:useLocalDpi xmlns:a14="http://schemas.microsoft.com/office/drawing/2010/main" val="0"/>
              </a:ext>
            </a:extLst>
          </a:blip>
          <a:srcRect l="5299" t="36515" r="2135" b="14832"/>
          <a:stretch/>
        </p:blipFill>
        <p:spPr>
          <a:xfrm>
            <a:off x="3059721" y="2337566"/>
            <a:ext cx="6342185" cy="4166899"/>
          </a:xfrm>
          <a:prstGeom prst="rect">
            <a:avLst/>
          </a:prstGeom>
        </p:spPr>
      </p:pic>
    </p:spTree>
    <p:extLst>
      <p:ext uri="{BB962C8B-B14F-4D97-AF65-F5344CB8AC3E}">
        <p14:creationId xmlns:p14="http://schemas.microsoft.com/office/powerpoint/2010/main" val="682253051"/>
      </p:ext>
    </p:extLst>
  </p:cSld>
  <p:clrMapOvr>
    <a:masterClrMapping/>
  </p:clrMapOvr>
  <mc:AlternateContent xmlns:mc="http://schemas.openxmlformats.org/markup-compatibility/2006">
    <mc:Choice xmlns:p14="http://schemas.microsoft.com/office/powerpoint/2010/main" Requires="p14">
      <p:transition p14:dur="10">
        <p14:glitter pattern="hexagon"/>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CB142-EA4C-C4EF-976A-751A5D9D0B5D}"/>
            </a:ext>
          </a:extLst>
        </p:cNvPr>
        <p:cNvGrpSpPr/>
        <p:nvPr/>
      </p:nvGrpSpPr>
      <p:grpSpPr>
        <a:xfrm>
          <a:off x="0" y="0"/>
          <a:ext cx="0" cy="0"/>
          <a:chOff x="0" y="0"/>
          <a:chExt cx="0" cy="0"/>
        </a:xfrm>
      </p:grpSpPr>
      <p:sp>
        <p:nvSpPr>
          <p:cNvPr id="5" name="Triángulo rectángulo 4">
            <a:extLst>
              <a:ext uri="{FF2B5EF4-FFF2-40B4-BE49-F238E27FC236}">
                <a16:creationId xmlns:a16="http://schemas.microsoft.com/office/drawing/2014/main" id="{12E2CC4F-FBBB-9495-D587-B4634C4B4BAE}"/>
              </a:ext>
            </a:extLst>
          </p:cNvPr>
          <p:cNvSpPr/>
          <p:nvPr/>
        </p:nvSpPr>
        <p:spPr>
          <a:xfrm rot="16200000" flipH="1">
            <a:off x="5694170" y="-4060847"/>
            <a:ext cx="2350927" cy="10644736"/>
          </a:xfrm>
          <a:prstGeom prst="rtTriangle">
            <a:avLst/>
          </a:prstGeom>
          <a:gradFill>
            <a:gsLst>
              <a:gs pos="50000">
                <a:srgbClr val="8DBFFB"/>
              </a:gs>
              <a:gs pos="74000">
                <a:srgbClr val="D6E8FE"/>
              </a:gs>
              <a:gs pos="83000">
                <a:srgbClr val="D6E8FE"/>
              </a:gs>
              <a:gs pos="100000">
                <a:srgbClr val="D6E8FE"/>
              </a:gs>
            </a:gsLst>
            <a:lin ang="5400000" scaled="1"/>
          </a:gradFill>
          <a:ln>
            <a:noFill/>
          </a:ln>
          <a:effectLst>
            <a:glow rad="152400">
              <a:srgbClr val="C3C0E6">
                <a:alpha val="40000"/>
              </a:srgbClr>
            </a:glow>
            <a:outerShdw blurRad="50800" dist="50800" dir="5400000" algn="ctr" rotWithShape="0">
              <a:srgbClr val="8DBFFB"/>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Triángulo rectángulo 3">
            <a:extLst>
              <a:ext uri="{FF2B5EF4-FFF2-40B4-BE49-F238E27FC236}">
                <a16:creationId xmlns:a16="http://schemas.microsoft.com/office/drawing/2014/main" id="{3843548A-80FA-6A98-3775-4815216A8498}"/>
              </a:ext>
            </a:extLst>
          </p:cNvPr>
          <p:cNvSpPr/>
          <p:nvPr/>
        </p:nvSpPr>
        <p:spPr>
          <a:xfrm rot="10800000" flipH="1">
            <a:off x="0" y="86384"/>
            <a:ext cx="2350927" cy="6742712"/>
          </a:xfrm>
          <a:prstGeom prst="rtTriangle">
            <a:avLst/>
          </a:prstGeom>
          <a:gradFill>
            <a:gsLst>
              <a:gs pos="50000">
                <a:srgbClr val="8DBFFB"/>
              </a:gs>
              <a:gs pos="74000">
                <a:srgbClr val="D6E8FE"/>
              </a:gs>
              <a:gs pos="83000">
                <a:srgbClr val="D6E8FE"/>
              </a:gs>
              <a:gs pos="100000">
                <a:srgbClr val="D6E8FE"/>
              </a:gs>
            </a:gsLst>
            <a:lin ang="5400000" scaled="1"/>
          </a:gradFill>
          <a:ln>
            <a:noFill/>
          </a:ln>
          <a:effectLst>
            <a:glow rad="152400">
              <a:srgbClr val="C3C0E6">
                <a:alpha val="40000"/>
              </a:srgbClr>
            </a:glow>
            <a:outerShdw blurRad="50800" dist="50800" dir="5400000" algn="ctr" rotWithShape="0">
              <a:srgbClr val="8DBFFB"/>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9" name="CuadroTexto 8">
            <a:extLst>
              <a:ext uri="{FF2B5EF4-FFF2-40B4-BE49-F238E27FC236}">
                <a16:creationId xmlns:a16="http://schemas.microsoft.com/office/drawing/2014/main" id="{664552B1-7414-A449-DB6F-DF6825408812}"/>
              </a:ext>
            </a:extLst>
          </p:cNvPr>
          <p:cNvSpPr txBox="1"/>
          <p:nvPr/>
        </p:nvSpPr>
        <p:spPr>
          <a:xfrm>
            <a:off x="6960320" y="123275"/>
            <a:ext cx="5121723" cy="584775"/>
          </a:xfrm>
          <a:prstGeom prst="rect">
            <a:avLst/>
          </a:prstGeom>
          <a:noFill/>
          <a:effectLst>
            <a:glow rad="127000">
              <a:srgbClr val="C3C0E6"/>
            </a:glow>
            <a:outerShdw blurRad="50800" dist="50800" dir="5400000" algn="ctr" rotWithShape="0">
              <a:srgbClr val="C3C0E6"/>
            </a:outerShdw>
          </a:effectLst>
        </p:spPr>
        <p:txBody>
          <a:bodyPr wrap="none" rtlCol="0">
            <a:spAutoFit/>
          </a:bodyPr>
          <a:lstStyle/>
          <a:p>
            <a:pPr algn="r"/>
            <a:r>
              <a:rPr lang="es-CO" sz="1600" dirty="0">
                <a:effectLst>
                  <a:outerShdw blurRad="50800" dist="50800" dir="5400000" algn="ctr" rotWithShape="0">
                    <a:schemeClr val="bg1">
                      <a:lumMod val="75000"/>
                    </a:schemeClr>
                  </a:outerShdw>
                </a:effectLst>
              </a:rPr>
              <a:t>COLEGIO TÉCNICO DISTRITAL PAULO FREIRE IED</a:t>
            </a:r>
          </a:p>
          <a:p>
            <a:pPr algn="r"/>
            <a:r>
              <a:rPr lang="es-CO" sz="1600" dirty="0">
                <a:effectLst>
                  <a:outerShdw blurRad="50800" dist="50800" dir="5400000" algn="ctr" rotWithShape="0">
                    <a:schemeClr val="bg1">
                      <a:lumMod val="75000"/>
                    </a:schemeClr>
                  </a:outerShdw>
                </a:effectLst>
              </a:rPr>
              <a:t>SUSTENTACIÓN PROYECTO DE GRADO 2026</a:t>
            </a:r>
          </a:p>
        </p:txBody>
      </p:sp>
      <p:pic>
        <p:nvPicPr>
          <p:cNvPr id="10" name="Imagen 9" descr="Logotipo&#10;&#10;Descripción generada automáticamente">
            <a:extLst>
              <a:ext uri="{FF2B5EF4-FFF2-40B4-BE49-F238E27FC236}">
                <a16:creationId xmlns:a16="http://schemas.microsoft.com/office/drawing/2014/main" id="{2526C007-602D-280D-43C1-090CADCB84E6}"/>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9945" y="47134"/>
            <a:ext cx="1651907" cy="1520890"/>
          </a:xfrm>
          <a:prstGeom prst="rect">
            <a:avLst/>
          </a:prstGeom>
        </p:spPr>
      </p:pic>
      <p:pic>
        <p:nvPicPr>
          <p:cNvPr id="6" name="Imagen 5">
            <a:extLst>
              <a:ext uri="{FF2B5EF4-FFF2-40B4-BE49-F238E27FC236}">
                <a16:creationId xmlns:a16="http://schemas.microsoft.com/office/drawing/2014/main" id="{75BD210E-52EE-D92A-28EA-5B572C9B8AB8}"/>
              </a:ext>
            </a:extLst>
          </p:cNvPr>
          <p:cNvPicPr>
            <a:picLocks noChangeAspect="1"/>
          </p:cNvPicPr>
          <p:nvPr/>
        </p:nvPicPr>
        <p:blipFill>
          <a:blip r:embed="rId3"/>
          <a:srcRect b="20855"/>
          <a:stretch/>
        </p:blipFill>
        <p:spPr>
          <a:xfrm>
            <a:off x="2030137" y="851212"/>
            <a:ext cx="7285691" cy="5766282"/>
          </a:xfrm>
          <a:prstGeom prst="rect">
            <a:avLst/>
          </a:prstGeom>
        </p:spPr>
      </p:pic>
    </p:spTree>
    <p:extLst>
      <p:ext uri="{BB962C8B-B14F-4D97-AF65-F5344CB8AC3E}">
        <p14:creationId xmlns:p14="http://schemas.microsoft.com/office/powerpoint/2010/main" val="91161524"/>
      </p:ext>
    </p:extLst>
  </p:cSld>
  <p:clrMapOvr>
    <a:masterClrMapping/>
  </p:clrMapOvr>
  <mc:AlternateContent xmlns:mc="http://schemas.openxmlformats.org/markup-compatibility/2006" xmlns:p14="http://schemas.microsoft.com/office/powerpoint/2010/main">
    <mc:Choice Requires="p14">
      <p:transition p14:dur="10">
        <p14:glitter pattern="hexagon"/>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riángulo rectángulo 4">
            <a:extLst>
              <a:ext uri="{FF2B5EF4-FFF2-40B4-BE49-F238E27FC236}">
                <a16:creationId xmlns:a16="http://schemas.microsoft.com/office/drawing/2014/main" id="{AB14C2AB-5230-6532-874B-A1FD8B5CB85D}"/>
              </a:ext>
            </a:extLst>
          </p:cNvPr>
          <p:cNvSpPr/>
          <p:nvPr/>
        </p:nvSpPr>
        <p:spPr>
          <a:xfrm rot="16200000" flipH="1">
            <a:off x="5694170" y="-4060847"/>
            <a:ext cx="2350927" cy="10644736"/>
          </a:xfrm>
          <a:prstGeom prst="rtTriangle">
            <a:avLst/>
          </a:prstGeom>
          <a:gradFill>
            <a:gsLst>
              <a:gs pos="50000">
                <a:srgbClr val="8DBFFB"/>
              </a:gs>
              <a:gs pos="74000">
                <a:srgbClr val="D6E8FE"/>
              </a:gs>
              <a:gs pos="83000">
                <a:srgbClr val="D6E8FE"/>
              </a:gs>
              <a:gs pos="100000">
                <a:srgbClr val="D6E8FE"/>
              </a:gs>
            </a:gsLst>
            <a:lin ang="5400000" scaled="1"/>
          </a:gradFill>
          <a:ln>
            <a:noFill/>
          </a:ln>
          <a:effectLst>
            <a:glow rad="152400">
              <a:srgbClr val="C3C0E6">
                <a:alpha val="40000"/>
              </a:srgbClr>
            </a:glow>
            <a:outerShdw blurRad="50800" dist="50800" dir="5400000" algn="ctr" rotWithShape="0">
              <a:srgbClr val="8DBFFB"/>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Triángulo rectángulo 3">
            <a:extLst>
              <a:ext uri="{FF2B5EF4-FFF2-40B4-BE49-F238E27FC236}">
                <a16:creationId xmlns:a16="http://schemas.microsoft.com/office/drawing/2014/main" id="{3C597F25-92E5-1E6F-E68B-912BBCF50C04}"/>
              </a:ext>
            </a:extLst>
          </p:cNvPr>
          <p:cNvSpPr/>
          <p:nvPr/>
        </p:nvSpPr>
        <p:spPr>
          <a:xfrm rot="10800000" flipH="1">
            <a:off x="0" y="86384"/>
            <a:ext cx="2350927" cy="6742712"/>
          </a:xfrm>
          <a:prstGeom prst="rtTriangle">
            <a:avLst/>
          </a:prstGeom>
          <a:gradFill>
            <a:gsLst>
              <a:gs pos="50000">
                <a:srgbClr val="8DBFFB"/>
              </a:gs>
              <a:gs pos="74000">
                <a:srgbClr val="D6E8FE"/>
              </a:gs>
              <a:gs pos="83000">
                <a:srgbClr val="D6E8FE"/>
              </a:gs>
              <a:gs pos="100000">
                <a:srgbClr val="D6E8FE"/>
              </a:gs>
            </a:gsLst>
            <a:lin ang="5400000" scaled="1"/>
          </a:gradFill>
          <a:ln>
            <a:noFill/>
          </a:ln>
          <a:effectLst>
            <a:glow rad="152400">
              <a:srgbClr val="C3C0E6">
                <a:alpha val="40000"/>
              </a:srgbClr>
            </a:glow>
            <a:outerShdw blurRad="50800" dist="50800" dir="5400000" algn="ctr" rotWithShape="0">
              <a:srgbClr val="8DBFFB"/>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9" name="CuadroTexto 8">
            <a:extLst>
              <a:ext uri="{FF2B5EF4-FFF2-40B4-BE49-F238E27FC236}">
                <a16:creationId xmlns:a16="http://schemas.microsoft.com/office/drawing/2014/main" id="{43F2B1BC-599E-A086-36B0-0A59F631DD8A}"/>
              </a:ext>
            </a:extLst>
          </p:cNvPr>
          <p:cNvSpPr txBox="1"/>
          <p:nvPr/>
        </p:nvSpPr>
        <p:spPr>
          <a:xfrm>
            <a:off x="6960320" y="123275"/>
            <a:ext cx="5121723" cy="584775"/>
          </a:xfrm>
          <a:prstGeom prst="rect">
            <a:avLst/>
          </a:prstGeom>
          <a:noFill/>
          <a:effectLst>
            <a:glow rad="127000">
              <a:srgbClr val="C3C0E6"/>
            </a:glow>
            <a:outerShdw blurRad="50800" dist="50800" dir="5400000" algn="ctr" rotWithShape="0">
              <a:srgbClr val="C3C0E6"/>
            </a:outerShdw>
          </a:effectLst>
        </p:spPr>
        <p:txBody>
          <a:bodyPr wrap="none" rtlCol="0">
            <a:spAutoFit/>
          </a:bodyPr>
          <a:lstStyle/>
          <a:p>
            <a:pPr algn="r"/>
            <a:r>
              <a:rPr lang="es-CO" sz="1600" dirty="0">
                <a:effectLst>
                  <a:outerShdw blurRad="50800" dist="50800" dir="5400000" algn="ctr" rotWithShape="0">
                    <a:schemeClr val="bg1">
                      <a:lumMod val="75000"/>
                    </a:schemeClr>
                  </a:outerShdw>
                </a:effectLst>
              </a:rPr>
              <a:t>COLEGIO TÉCNICO DISTRITAL PAULO FREIRE IED</a:t>
            </a:r>
          </a:p>
          <a:p>
            <a:pPr algn="r"/>
            <a:r>
              <a:rPr lang="es-CO" sz="1600" dirty="0">
                <a:effectLst>
                  <a:outerShdw blurRad="50800" dist="50800" dir="5400000" algn="ctr" rotWithShape="0">
                    <a:schemeClr val="bg1">
                      <a:lumMod val="75000"/>
                    </a:schemeClr>
                  </a:outerShdw>
                </a:effectLst>
              </a:rPr>
              <a:t>SUSTENTACIÓN PROYECTO DE GRADO 2026</a:t>
            </a:r>
          </a:p>
        </p:txBody>
      </p:sp>
      <p:pic>
        <p:nvPicPr>
          <p:cNvPr id="10" name="Imagen 9" descr="Logotipo&#10;&#10;Descripción generada automáticamente">
            <a:extLst>
              <a:ext uri="{FF2B5EF4-FFF2-40B4-BE49-F238E27FC236}">
                <a16:creationId xmlns:a16="http://schemas.microsoft.com/office/drawing/2014/main" id="{E4D4B5A3-8574-A824-781F-F30C424668E8}"/>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9945" y="47134"/>
            <a:ext cx="1651907" cy="1520890"/>
          </a:xfrm>
          <a:prstGeom prst="rect">
            <a:avLst/>
          </a:prstGeom>
        </p:spPr>
      </p:pic>
      <p:pic>
        <p:nvPicPr>
          <p:cNvPr id="13" name="Imagen 12">
            <a:extLst>
              <a:ext uri="{FF2B5EF4-FFF2-40B4-BE49-F238E27FC236}">
                <a16:creationId xmlns:a16="http://schemas.microsoft.com/office/drawing/2014/main" id="{73A80621-CEA3-4F08-1614-46188FD7B8B0}"/>
              </a:ext>
            </a:extLst>
          </p:cNvPr>
          <p:cNvPicPr>
            <a:picLocks noChangeAspect="1"/>
          </p:cNvPicPr>
          <p:nvPr/>
        </p:nvPicPr>
        <p:blipFill>
          <a:blip r:embed="rId3"/>
          <a:stretch>
            <a:fillRect/>
          </a:stretch>
        </p:blipFill>
        <p:spPr>
          <a:xfrm>
            <a:off x="2961371" y="924781"/>
            <a:ext cx="6269257" cy="5729298"/>
          </a:xfrm>
          <a:prstGeom prst="rect">
            <a:avLst/>
          </a:prstGeom>
        </p:spPr>
      </p:pic>
    </p:spTree>
    <p:extLst>
      <p:ext uri="{BB962C8B-B14F-4D97-AF65-F5344CB8AC3E}">
        <p14:creationId xmlns:p14="http://schemas.microsoft.com/office/powerpoint/2010/main" val="30822865"/>
      </p:ext>
    </p:extLst>
  </p:cSld>
  <p:clrMapOvr>
    <a:masterClrMapping/>
  </p:clrMapOvr>
  <mc:AlternateContent xmlns:mc="http://schemas.openxmlformats.org/markup-compatibility/2006" xmlns:p14="http://schemas.microsoft.com/office/powerpoint/2010/main">
    <mc:Choice Requires="p14">
      <p:transition p14:dur="10">
        <p14:glitter pattern="hexagon"/>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F7646-A96D-BFDB-24D3-A419A5599164}"/>
            </a:ext>
          </a:extLst>
        </p:cNvPr>
        <p:cNvGrpSpPr/>
        <p:nvPr/>
      </p:nvGrpSpPr>
      <p:grpSpPr>
        <a:xfrm>
          <a:off x="0" y="0"/>
          <a:ext cx="0" cy="0"/>
          <a:chOff x="0" y="0"/>
          <a:chExt cx="0" cy="0"/>
        </a:xfrm>
      </p:grpSpPr>
      <p:sp>
        <p:nvSpPr>
          <p:cNvPr id="5" name="Triángulo rectángulo 4">
            <a:extLst>
              <a:ext uri="{FF2B5EF4-FFF2-40B4-BE49-F238E27FC236}">
                <a16:creationId xmlns:a16="http://schemas.microsoft.com/office/drawing/2014/main" id="{34F371CE-5CC6-C9E8-81C1-0B0E50B6B320}"/>
              </a:ext>
            </a:extLst>
          </p:cNvPr>
          <p:cNvSpPr/>
          <p:nvPr/>
        </p:nvSpPr>
        <p:spPr>
          <a:xfrm rot="16200000" flipH="1">
            <a:off x="5694170" y="-4060847"/>
            <a:ext cx="2350927" cy="10644736"/>
          </a:xfrm>
          <a:prstGeom prst="rtTriangle">
            <a:avLst/>
          </a:prstGeom>
          <a:gradFill>
            <a:gsLst>
              <a:gs pos="50000">
                <a:srgbClr val="8DBFFB"/>
              </a:gs>
              <a:gs pos="74000">
                <a:srgbClr val="D6E8FE"/>
              </a:gs>
              <a:gs pos="83000">
                <a:srgbClr val="D6E8FE"/>
              </a:gs>
              <a:gs pos="100000">
                <a:srgbClr val="D6E8FE"/>
              </a:gs>
            </a:gsLst>
            <a:lin ang="5400000" scaled="1"/>
          </a:gradFill>
          <a:ln>
            <a:noFill/>
          </a:ln>
          <a:effectLst>
            <a:glow rad="152400">
              <a:srgbClr val="C3C0E6">
                <a:alpha val="40000"/>
              </a:srgbClr>
            </a:glow>
            <a:outerShdw blurRad="50800" dist="50800" dir="5400000" algn="ctr" rotWithShape="0">
              <a:srgbClr val="8DBFFB"/>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Triángulo rectángulo 3">
            <a:extLst>
              <a:ext uri="{FF2B5EF4-FFF2-40B4-BE49-F238E27FC236}">
                <a16:creationId xmlns:a16="http://schemas.microsoft.com/office/drawing/2014/main" id="{A8F1401E-05FD-78C4-963F-80BEBA91DDCF}"/>
              </a:ext>
            </a:extLst>
          </p:cNvPr>
          <p:cNvSpPr/>
          <p:nvPr/>
        </p:nvSpPr>
        <p:spPr>
          <a:xfrm rot="10800000" flipH="1">
            <a:off x="0" y="86384"/>
            <a:ext cx="2350927" cy="6742712"/>
          </a:xfrm>
          <a:prstGeom prst="rtTriangle">
            <a:avLst/>
          </a:prstGeom>
          <a:gradFill>
            <a:gsLst>
              <a:gs pos="50000">
                <a:srgbClr val="8DBFFB"/>
              </a:gs>
              <a:gs pos="74000">
                <a:srgbClr val="D6E8FE"/>
              </a:gs>
              <a:gs pos="83000">
                <a:srgbClr val="D6E8FE"/>
              </a:gs>
              <a:gs pos="100000">
                <a:srgbClr val="D6E8FE"/>
              </a:gs>
            </a:gsLst>
            <a:lin ang="5400000" scaled="1"/>
          </a:gradFill>
          <a:ln>
            <a:noFill/>
          </a:ln>
          <a:effectLst>
            <a:glow rad="152400">
              <a:srgbClr val="C3C0E6">
                <a:alpha val="40000"/>
              </a:srgbClr>
            </a:glow>
            <a:outerShdw blurRad="50800" dist="50800" dir="5400000" algn="ctr" rotWithShape="0">
              <a:srgbClr val="8DBFFB"/>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8" name="Título 1">
            <a:extLst>
              <a:ext uri="{FF2B5EF4-FFF2-40B4-BE49-F238E27FC236}">
                <a16:creationId xmlns:a16="http://schemas.microsoft.com/office/drawing/2014/main" id="{31F98F4A-875D-1E83-1378-507D8C92F563}"/>
              </a:ext>
            </a:extLst>
          </p:cNvPr>
          <p:cNvSpPr>
            <a:spLocks noGrp="1"/>
          </p:cNvSpPr>
          <p:nvPr>
            <p:ph type="title"/>
          </p:nvPr>
        </p:nvSpPr>
        <p:spPr>
          <a:xfrm>
            <a:off x="835898" y="1123863"/>
            <a:ext cx="10699098" cy="681728"/>
          </a:xfrm>
        </p:spPr>
        <p:txBody>
          <a:bodyPr>
            <a:noAutofit/>
          </a:bodyPr>
          <a:lstStyle/>
          <a:p>
            <a:pPr algn="ctr"/>
            <a:r>
              <a:rPr lang="es-ES" sz="5400" b="1" dirty="0">
                <a:latin typeface="Times New Roman" panose="02020603050405020304" pitchFamily="18" charset="0"/>
                <a:cs typeface="Times New Roman" panose="02020603050405020304" pitchFamily="18" charset="0"/>
              </a:rPr>
              <a:t>Pagina Web</a:t>
            </a:r>
            <a:endParaRPr lang="es-CO" sz="5400" b="1" dirty="0">
              <a:latin typeface="Times New Roman" panose="02020603050405020304" pitchFamily="18" charset="0"/>
              <a:cs typeface="Times New Roman" panose="02020603050405020304" pitchFamily="18" charset="0"/>
            </a:endParaRPr>
          </a:p>
        </p:txBody>
      </p:sp>
      <p:sp>
        <p:nvSpPr>
          <p:cNvPr id="9" name="CuadroTexto 8">
            <a:extLst>
              <a:ext uri="{FF2B5EF4-FFF2-40B4-BE49-F238E27FC236}">
                <a16:creationId xmlns:a16="http://schemas.microsoft.com/office/drawing/2014/main" id="{0372588D-227F-DFDC-2BC3-4C1884C03CB6}"/>
              </a:ext>
            </a:extLst>
          </p:cNvPr>
          <p:cNvSpPr txBox="1"/>
          <p:nvPr/>
        </p:nvSpPr>
        <p:spPr>
          <a:xfrm>
            <a:off x="6960320" y="123275"/>
            <a:ext cx="5121723" cy="584775"/>
          </a:xfrm>
          <a:prstGeom prst="rect">
            <a:avLst/>
          </a:prstGeom>
          <a:noFill/>
          <a:effectLst>
            <a:glow rad="127000">
              <a:srgbClr val="C3C0E6"/>
            </a:glow>
            <a:outerShdw blurRad="50800" dist="50800" dir="5400000" algn="ctr" rotWithShape="0">
              <a:srgbClr val="C3C0E6"/>
            </a:outerShdw>
          </a:effectLst>
        </p:spPr>
        <p:txBody>
          <a:bodyPr wrap="none" rtlCol="0">
            <a:spAutoFit/>
          </a:bodyPr>
          <a:lstStyle/>
          <a:p>
            <a:pPr algn="r"/>
            <a:r>
              <a:rPr lang="es-CO" sz="1600" dirty="0">
                <a:effectLst>
                  <a:outerShdw blurRad="50800" dist="50800" dir="5400000" algn="ctr" rotWithShape="0">
                    <a:schemeClr val="bg1">
                      <a:lumMod val="75000"/>
                    </a:schemeClr>
                  </a:outerShdw>
                </a:effectLst>
              </a:rPr>
              <a:t>COLEGIO TÉCNICO DISTRITAL PAULO FREIRE IED</a:t>
            </a:r>
          </a:p>
          <a:p>
            <a:pPr algn="r"/>
            <a:r>
              <a:rPr lang="es-CO" sz="1600" dirty="0">
                <a:effectLst>
                  <a:outerShdw blurRad="50800" dist="50800" dir="5400000" algn="ctr" rotWithShape="0">
                    <a:schemeClr val="bg1">
                      <a:lumMod val="75000"/>
                    </a:schemeClr>
                  </a:outerShdw>
                </a:effectLst>
              </a:rPr>
              <a:t>SUSTENTACIÓN PROYECTO DE GRADO 2026</a:t>
            </a:r>
          </a:p>
        </p:txBody>
      </p:sp>
      <p:pic>
        <p:nvPicPr>
          <p:cNvPr id="10" name="Imagen 9" descr="Logotipo&#10;&#10;Descripción generada automáticamente">
            <a:extLst>
              <a:ext uri="{FF2B5EF4-FFF2-40B4-BE49-F238E27FC236}">
                <a16:creationId xmlns:a16="http://schemas.microsoft.com/office/drawing/2014/main" id="{5DB6C5F1-2E10-8ACD-E4F6-24D2AB89F79B}"/>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9945" y="47134"/>
            <a:ext cx="1651907" cy="1520890"/>
          </a:xfrm>
          <a:prstGeom prst="rect">
            <a:avLst/>
          </a:prstGeom>
        </p:spPr>
      </p:pic>
      <p:pic>
        <p:nvPicPr>
          <p:cNvPr id="6" name="Imagen 5">
            <a:extLst>
              <a:ext uri="{FF2B5EF4-FFF2-40B4-BE49-F238E27FC236}">
                <a16:creationId xmlns:a16="http://schemas.microsoft.com/office/drawing/2014/main" id="{2A92F918-E2D6-4328-05F7-923C51D81DBE}"/>
              </a:ext>
            </a:extLst>
          </p:cNvPr>
          <p:cNvPicPr>
            <a:picLocks noChangeAspect="1"/>
          </p:cNvPicPr>
          <p:nvPr/>
        </p:nvPicPr>
        <p:blipFill>
          <a:blip r:embed="rId3">
            <a:extLst>
              <a:ext uri="{28A0092B-C50C-407E-A947-70E740481C1C}">
                <a14:useLocalDpi xmlns:a14="http://schemas.microsoft.com/office/drawing/2010/main" val="0"/>
              </a:ext>
            </a:extLst>
          </a:blip>
          <a:srcRect b="16794"/>
          <a:stretch/>
        </p:blipFill>
        <p:spPr>
          <a:xfrm>
            <a:off x="3772924" y="2078605"/>
            <a:ext cx="4646152" cy="4477476"/>
          </a:xfrm>
          <a:prstGeom prst="rect">
            <a:avLst/>
          </a:prstGeom>
        </p:spPr>
      </p:pic>
    </p:spTree>
    <p:extLst>
      <p:ext uri="{BB962C8B-B14F-4D97-AF65-F5344CB8AC3E}">
        <p14:creationId xmlns:p14="http://schemas.microsoft.com/office/powerpoint/2010/main" val="1175560829"/>
      </p:ext>
    </p:extLst>
  </p:cSld>
  <p:clrMapOvr>
    <a:masterClrMapping/>
  </p:clrMapOvr>
  <mc:AlternateContent xmlns:mc="http://schemas.openxmlformats.org/markup-compatibility/2006" xmlns:p14="http://schemas.microsoft.com/office/powerpoint/2010/main">
    <mc:Choice Requires="p14">
      <p:transition p14:dur="10">
        <p14:glitter pattern="hexagon"/>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riángulo rectángulo 4">
            <a:extLst>
              <a:ext uri="{FF2B5EF4-FFF2-40B4-BE49-F238E27FC236}">
                <a16:creationId xmlns:a16="http://schemas.microsoft.com/office/drawing/2014/main" id="{AB14C2AB-5230-6532-874B-A1FD8B5CB85D}"/>
              </a:ext>
            </a:extLst>
          </p:cNvPr>
          <p:cNvSpPr/>
          <p:nvPr/>
        </p:nvSpPr>
        <p:spPr>
          <a:xfrm rot="16200000" flipH="1">
            <a:off x="5694170" y="-4060847"/>
            <a:ext cx="2350927" cy="10644736"/>
          </a:xfrm>
          <a:prstGeom prst="rtTriangle">
            <a:avLst/>
          </a:prstGeom>
          <a:gradFill>
            <a:gsLst>
              <a:gs pos="50000">
                <a:srgbClr val="8DBFFB"/>
              </a:gs>
              <a:gs pos="74000">
                <a:srgbClr val="D6E8FE"/>
              </a:gs>
              <a:gs pos="83000">
                <a:srgbClr val="D6E8FE"/>
              </a:gs>
              <a:gs pos="100000">
                <a:srgbClr val="D6E8FE"/>
              </a:gs>
            </a:gsLst>
            <a:lin ang="5400000" scaled="1"/>
          </a:gradFill>
          <a:ln>
            <a:noFill/>
          </a:ln>
          <a:effectLst>
            <a:glow rad="152400">
              <a:srgbClr val="C3C0E6">
                <a:alpha val="40000"/>
              </a:srgbClr>
            </a:glow>
            <a:outerShdw blurRad="50800" dist="50800" dir="5400000" algn="ctr" rotWithShape="0">
              <a:srgbClr val="8DBFFB"/>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Triángulo rectángulo 3">
            <a:extLst>
              <a:ext uri="{FF2B5EF4-FFF2-40B4-BE49-F238E27FC236}">
                <a16:creationId xmlns:a16="http://schemas.microsoft.com/office/drawing/2014/main" id="{3C597F25-92E5-1E6F-E68B-912BBCF50C04}"/>
              </a:ext>
            </a:extLst>
          </p:cNvPr>
          <p:cNvSpPr/>
          <p:nvPr/>
        </p:nvSpPr>
        <p:spPr>
          <a:xfrm rot="10800000" flipH="1">
            <a:off x="0" y="86384"/>
            <a:ext cx="2350927" cy="6742712"/>
          </a:xfrm>
          <a:prstGeom prst="rtTriangle">
            <a:avLst/>
          </a:prstGeom>
          <a:gradFill>
            <a:gsLst>
              <a:gs pos="50000">
                <a:srgbClr val="8DBFFB"/>
              </a:gs>
              <a:gs pos="74000">
                <a:srgbClr val="D6E8FE"/>
              </a:gs>
              <a:gs pos="83000">
                <a:srgbClr val="D6E8FE"/>
              </a:gs>
              <a:gs pos="100000">
                <a:srgbClr val="D6E8FE"/>
              </a:gs>
            </a:gsLst>
            <a:lin ang="5400000" scaled="1"/>
          </a:gradFill>
          <a:ln>
            <a:noFill/>
          </a:ln>
          <a:effectLst>
            <a:glow rad="152400">
              <a:srgbClr val="C3C0E6">
                <a:alpha val="40000"/>
              </a:srgbClr>
            </a:glow>
            <a:outerShdw blurRad="50800" dist="50800" dir="5400000" algn="ctr" rotWithShape="0">
              <a:srgbClr val="8DBFFB"/>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3" name="Marcador de contenido 2">
            <a:extLst>
              <a:ext uri="{FF2B5EF4-FFF2-40B4-BE49-F238E27FC236}">
                <a16:creationId xmlns:a16="http://schemas.microsoft.com/office/drawing/2014/main" id="{393AC555-D0D6-BF25-66AD-C3C08307C35D}"/>
              </a:ext>
            </a:extLst>
          </p:cNvPr>
          <p:cNvSpPr>
            <a:spLocks noGrp="1"/>
          </p:cNvSpPr>
          <p:nvPr>
            <p:ph idx="1"/>
          </p:nvPr>
        </p:nvSpPr>
        <p:spPr>
          <a:xfrm>
            <a:off x="633769" y="1975183"/>
            <a:ext cx="11115674" cy="4481115"/>
          </a:xfrm>
        </p:spPr>
        <p:txBody>
          <a:bodyPr>
            <a:normAutofit/>
          </a:bodyPr>
          <a:lstStyle/>
          <a:p>
            <a:endParaRPr lang="es-CO" dirty="0"/>
          </a:p>
        </p:txBody>
      </p:sp>
      <p:sp>
        <p:nvSpPr>
          <p:cNvPr id="8" name="Título 1">
            <a:extLst>
              <a:ext uri="{FF2B5EF4-FFF2-40B4-BE49-F238E27FC236}">
                <a16:creationId xmlns:a16="http://schemas.microsoft.com/office/drawing/2014/main" id="{3B7DF75B-69D1-9C0C-4787-5A413E9FAFC6}"/>
              </a:ext>
            </a:extLst>
          </p:cNvPr>
          <p:cNvSpPr>
            <a:spLocks noGrp="1"/>
          </p:cNvSpPr>
          <p:nvPr>
            <p:ph type="title"/>
          </p:nvPr>
        </p:nvSpPr>
        <p:spPr>
          <a:xfrm>
            <a:off x="835898" y="1123863"/>
            <a:ext cx="10699098" cy="681728"/>
          </a:xfrm>
        </p:spPr>
        <p:txBody>
          <a:bodyPr>
            <a:noAutofit/>
          </a:bodyPr>
          <a:lstStyle/>
          <a:p>
            <a:pPr algn="ctr"/>
            <a:r>
              <a:rPr lang="es-CO" b="1" dirty="0"/>
              <a:t>Conclusiones y Recomendaciones</a:t>
            </a:r>
          </a:p>
        </p:txBody>
      </p:sp>
      <p:sp>
        <p:nvSpPr>
          <p:cNvPr id="9" name="CuadroTexto 8">
            <a:extLst>
              <a:ext uri="{FF2B5EF4-FFF2-40B4-BE49-F238E27FC236}">
                <a16:creationId xmlns:a16="http://schemas.microsoft.com/office/drawing/2014/main" id="{43F2B1BC-599E-A086-36B0-0A59F631DD8A}"/>
              </a:ext>
            </a:extLst>
          </p:cNvPr>
          <p:cNvSpPr txBox="1"/>
          <p:nvPr/>
        </p:nvSpPr>
        <p:spPr>
          <a:xfrm>
            <a:off x="6960320" y="123275"/>
            <a:ext cx="5121723" cy="584775"/>
          </a:xfrm>
          <a:prstGeom prst="rect">
            <a:avLst/>
          </a:prstGeom>
          <a:noFill/>
          <a:effectLst>
            <a:glow rad="127000">
              <a:srgbClr val="C3C0E6"/>
            </a:glow>
            <a:outerShdw blurRad="50800" dist="50800" dir="5400000" algn="ctr" rotWithShape="0">
              <a:srgbClr val="C3C0E6"/>
            </a:outerShdw>
          </a:effectLst>
        </p:spPr>
        <p:txBody>
          <a:bodyPr wrap="none" rtlCol="0">
            <a:spAutoFit/>
          </a:bodyPr>
          <a:lstStyle/>
          <a:p>
            <a:pPr algn="r"/>
            <a:r>
              <a:rPr lang="es-CO" sz="1600" dirty="0">
                <a:effectLst>
                  <a:outerShdw blurRad="50800" dist="50800" dir="5400000" algn="ctr" rotWithShape="0">
                    <a:schemeClr val="bg1">
                      <a:lumMod val="75000"/>
                    </a:schemeClr>
                  </a:outerShdw>
                </a:effectLst>
              </a:rPr>
              <a:t>COLEGIO TÉCNICO DISTRITAL PAULO FREIRE IED</a:t>
            </a:r>
          </a:p>
          <a:p>
            <a:pPr algn="r"/>
            <a:r>
              <a:rPr lang="es-CO" sz="1600" dirty="0">
                <a:effectLst>
                  <a:outerShdw blurRad="50800" dist="50800" dir="5400000" algn="ctr" rotWithShape="0">
                    <a:schemeClr val="bg1">
                      <a:lumMod val="75000"/>
                    </a:schemeClr>
                  </a:outerShdw>
                </a:effectLst>
              </a:rPr>
              <a:t>SUSTENTACIÓN PROYECTO DE GRADO 2026</a:t>
            </a:r>
          </a:p>
        </p:txBody>
      </p:sp>
      <p:pic>
        <p:nvPicPr>
          <p:cNvPr id="10" name="Imagen 9" descr="Logotipo&#10;&#10;Descripción generada automáticamente">
            <a:extLst>
              <a:ext uri="{FF2B5EF4-FFF2-40B4-BE49-F238E27FC236}">
                <a16:creationId xmlns:a16="http://schemas.microsoft.com/office/drawing/2014/main" id="{E4D4B5A3-8574-A824-781F-F30C424668E8}"/>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9945" y="47134"/>
            <a:ext cx="1651907" cy="1520890"/>
          </a:xfrm>
          <a:prstGeom prst="rect">
            <a:avLst/>
          </a:prstGeom>
        </p:spPr>
      </p:pic>
    </p:spTree>
    <p:extLst>
      <p:ext uri="{BB962C8B-B14F-4D97-AF65-F5344CB8AC3E}">
        <p14:creationId xmlns:p14="http://schemas.microsoft.com/office/powerpoint/2010/main" val="2654437142"/>
      </p:ext>
    </p:extLst>
  </p:cSld>
  <p:clrMapOvr>
    <a:masterClrMapping/>
  </p:clrMapOvr>
  <mc:AlternateContent xmlns:mc="http://schemas.openxmlformats.org/markup-compatibility/2006" xmlns:p14="http://schemas.microsoft.com/office/powerpoint/2010/main">
    <mc:Choice Requires="p14">
      <p:transition p14:dur="10">
        <p14:glitter pattern="hexagon"/>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theme/theme1.xml><?xml version="1.0" encoding="utf-8"?>
<a:theme xmlns:a="http://schemas.openxmlformats.org/drawingml/2006/main" name="AccentBoxVTI">
  <a:themeElements>
    <a:clrScheme name="AnalogousFromLightSeedRightStep">
      <a:dk1>
        <a:srgbClr val="000000"/>
      </a:dk1>
      <a:lt1>
        <a:srgbClr val="FFFFFF"/>
      </a:lt1>
      <a:dk2>
        <a:srgbClr val="23393F"/>
      </a:dk2>
      <a:lt2>
        <a:srgbClr val="E2E7E8"/>
      </a:lt2>
      <a:accent1>
        <a:srgbClr val="D69383"/>
      </a:accent1>
      <a:accent2>
        <a:srgbClr val="C59C5D"/>
      </a:accent2>
      <a:accent3>
        <a:srgbClr val="A6A868"/>
      </a:accent3>
      <a:accent4>
        <a:srgbClr val="89AE5A"/>
      </a:accent4>
      <a:accent5>
        <a:srgbClr val="74B36A"/>
      </a:accent5>
      <a:accent6>
        <a:srgbClr val="5EB576"/>
      </a:accent6>
      <a:hlink>
        <a:srgbClr val="5B8B96"/>
      </a:hlink>
      <a:folHlink>
        <a:srgbClr val="7F7F7F"/>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mersión a la Especialidad  -  Modo de compatibilidad" id="{5492308E-111E-4AC6-B6B1-E76B8032EE11}" vid="{1969E9F9-F062-459A-91DB-137B6A991E3B}"/>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2367</TotalTime>
  <Words>489</Words>
  <Application>Microsoft Office PowerPoint</Application>
  <PresentationFormat>Panorámica</PresentationFormat>
  <Paragraphs>63</Paragraphs>
  <Slides>18</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18</vt:i4>
      </vt:variant>
    </vt:vector>
  </HeadingPairs>
  <TitlesOfParts>
    <vt:vector size="23" baseType="lpstr">
      <vt:lpstr>Arial</vt:lpstr>
      <vt:lpstr>Avenir Next LT Pro</vt:lpstr>
      <vt:lpstr>Calibri</vt:lpstr>
      <vt:lpstr>Times New Roman</vt:lpstr>
      <vt:lpstr>AccentBoxVTI</vt:lpstr>
      <vt:lpstr>Presentación de PowerPoint</vt:lpstr>
      <vt:lpstr>Planteamiento del problema</vt:lpstr>
      <vt:lpstr>Formulación del problema</vt:lpstr>
      <vt:lpstr>Objetivo General</vt:lpstr>
      <vt:lpstr>Objetivos Específicos</vt:lpstr>
      <vt:lpstr>Metodología</vt:lpstr>
      <vt:lpstr>Presentación de PowerPoint</vt:lpstr>
      <vt:lpstr>Presentación de PowerPoint</vt:lpstr>
      <vt:lpstr>Redes</vt:lpstr>
      <vt:lpstr>Pregunta 1 </vt:lpstr>
      <vt:lpstr>Pregunta 2 </vt:lpstr>
      <vt:lpstr>Pregunta 4 </vt:lpstr>
      <vt:lpstr>Pregunta 5 </vt:lpstr>
      <vt:lpstr>Pregunta 9 </vt:lpstr>
      <vt:lpstr>Presentación de PowerPoint</vt:lpstr>
      <vt:lpstr>Presentación de PowerPoint</vt:lpstr>
      <vt:lpstr>Pagina Web</vt:lpstr>
      <vt:lpstr>Conclusiones y Recomendaciones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daniel gutierrez</dc:creator>
  <cp:lastModifiedBy>PATRICIA MORENO</cp:lastModifiedBy>
  <cp:revision>88</cp:revision>
  <dcterms:created xsi:type="dcterms:W3CDTF">2020-10-19T16:39:19Z</dcterms:created>
  <dcterms:modified xsi:type="dcterms:W3CDTF">2026-09-28T00:56:25Z</dcterms:modified>
</cp:coreProperties>
</file>